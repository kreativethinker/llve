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sldIdLst>
    <p:sldId id="256" r:id="rId3"/>
    <p:sldId id="32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3" d="100"/>
          <a:sy n="103" d="100"/>
        </p:scale>
        <p:origin x="312" y="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76609C33-D605-6146-1378-F67C572F05C1}"/>
              </a:ext>
            </a:extLst>
          </p:cNvPr>
          <p:cNvSpPr/>
          <p:nvPr userDrawn="1"/>
        </p:nvSpPr>
        <p:spPr>
          <a:xfrm>
            <a:off x="0" y="0"/>
            <a:ext cx="12192000" cy="6858000"/>
          </a:xfrm>
          <a:custGeom>
            <a:avLst/>
            <a:gdLst>
              <a:gd name="connsiteX0" fmla="*/ 304800 w 12192000"/>
              <a:gd name="connsiteY0" fmla="*/ 266701 h 6858000"/>
              <a:gd name="connsiteX1" fmla="*/ 304800 w 12192000"/>
              <a:gd name="connsiteY1" fmla="*/ 6591300 h 6858000"/>
              <a:gd name="connsiteX2" fmla="*/ 11887200 w 12192000"/>
              <a:gd name="connsiteY2" fmla="*/ 6591300 h 6858000"/>
              <a:gd name="connsiteX3" fmla="*/ 11887200 w 12192000"/>
              <a:gd name="connsiteY3" fmla="*/ 266701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304800" y="266701"/>
                </a:moveTo>
                <a:lnTo>
                  <a:pt x="304800" y="6591300"/>
                </a:lnTo>
                <a:lnTo>
                  <a:pt x="11887200" y="6591300"/>
                </a:lnTo>
                <a:lnTo>
                  <a:pt x="11887200" y="266701"/>
                </a:lnTo>
                <a:close/>
                <a:moveTo>
                  <a:pt x="0" y="0"/>
                </a:moveTo>
                <a:lnTo>
                  <a:pt x="12192000" y="0"/>
                </a:lnTo>
                <a:lnTo>
                  <a:pt x="1219200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Title 8">
            <a:extLst>
              <a:ext uri="{FF2B5EF4-FFF2-40B4-BE49-F238E27FC236}">
                <a16:creationId xmlns:a16="http://schemas.microsoft.com/office/drawing/2014/main" id="{42398E06-9E0E-BC81-DEB5-1DB2F8635C23}"/>
              </a:ext>
            </a:extLst>
          </p:cNvPr>
          <p:cNvSpPr>
            <a:spLocks noGrp="1"/>
          </p:cNvSpPr>
          <p:nvPr>
            <p:ph type="title"/>
          </p:nvPr>
        </p:nvSpPr>
        <p:spPr>
          <a:xfrm>
            <a:off x="838200" y="1417320"/>
            <a:ext cx="10515600" cy="4023360"/>
          </a:xfrm>
        </p:spPr>
        <p:txBody>
          <a:bodyPr anchor="ctr"/>
          <a:lstStyle>
            <a:lvl1pPr algn="ctr">
              <a:defRPr sz="5400" spc="3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524000" y="6044184"/>
            <a:ext cx="9144000" cy="356616"/>
          </a:xfrm>
        </p:spPr>
        <p:txBody>
          <a:bodyPr/>
          <a:lstStyle>
            <a:lvl1pPr marL="0" indent="0" algn="ct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Rectangle 13">
            <a:extLst>
              <a:ext uri="{FF2B5EF4-FFF2-40B4-BE49-F238E27FC236}">
                <a16:creationId xmlns:a16="http://schemas.microsoft.com/office/drawing/2014/main" id="{6DDC5B68-548C-395D-B9A9-EA694F6CB59F}"/>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193262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F738F023-8BDF-71DB-D6AB-776F7C6413B2}"/>
              </a:ext>
            </a:extLst>
          </p:cNvPr>
          <p:cNvSpPr/>
          <p:nvPr userDrawn="1"/>
        </p:nvSpPr>
        <p:spPr>
          <a:xfrm>
            <a:off x="8610600" y="0"/>
            <a:ext cx="3581400" cy="6858000"/>
          </a:xfrm>
          <a:custGeom>
            <a:avLst/>
            <a:gdLst>
              <a:gd name="connsiteX0" fmla="*/ 0 w 3581400"/>
              <a:gd name="connsiteY0" fmla="*/ 0 h 6858000"/>
              <a:gd name="connsiteX1" fmla="*/ 3581400 w 3581400"/>
              <a:gd name="connsiteY1" fmla="*/ 0 h 6858000"/>
              <a:gd name="connsiteX2" fmla="*/ 3581400 w 3581400"/>
              <a:gd name="connsiteY2" fmla="*/ 6858000 h 6858000"/>
              <a:gd name="connsiteX3" fmla="*/ 0 w 3581400"/>
              <a:gd name="connsiteY3" fmla="*/ 6858000 h 6858000"/>
              <a:gd name="connsiteX4" fmla="*/ 0 w 3581400"/>
              <a:gd name="connsiteY4" fmla="*/ 6172201 h 6858000"/>
              <a:gd name="connsiteX5" fmla="*/ 2971800 w 3581400"/>
              <a:gd name="connsiteY5" fmla="*/ 6172201 h 6858000"/>
              <a:gd name="connsiteX6" fmla="*/ 2971800 w 3581400"/>
              <a:gd name="connsiteY6" fmla="*/ 685800 h 6858000"/>
              <a:gd name="connsiteX7" fmla="*/ 0 w 3581400"/>
              <a:gd name="connsiteY7" fmla="*/ 685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1400" h="6858000">
                <a:moveTo>
                  <a:pt x="0" y="0"/>
                </a:moveTo>
                <a:lnTo>
                  <a:pt x="3581400" y="0"/>
                </a:lnTo>
                <a:lnTo>
                  <a:pt x="3581400" y="6858000"/>
                </a:lnTo>
                <a:lnTo>
                  <a:pt x="0" y="6858000"/>
                </a:lnTo>
                <a:lnTo>
                  <a:pt x="0" y="6172201"/>
                </a:lnTo>
                <a:lnTo>
                  <a:pt x="2971800" y="6172201"/>
                </a:lnTo>
                <a:lnTo>
                  <a:pt x="2971800" y="685800"/>
                </a:lnTo>
                <a:lnTo>
                  <a:pt x="0" y="6858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280160" y="1097280"/>
            <a:ext cx="4114800" cy="2286000"/>
          </a:xfrm>
        </p:spPr>
        <p:txBody>
          <a:bodyPr/>
          <a:lstStyle>
            <a:lvl1pPr>
              <a:defRPr sz="3200"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280160" y="3566160"/>
            <a:ext cx="4114800" cy="2651760"/>
          </a:xfrm>
        </p:spPr>
        <p:txBody>
          <a:bodyPr>
            <a:normAutofit/>
          </a:bodyPr>
          <a:lstStyle>
            <a:lvl1pPr marL="457200" indent="-457200">
              <a:lnSpc>
                <a:spcPct val="100000"/>
              </a:lnSpc>
              <a:spcBef>
                <a:spcPts val="1400"/>
              </a:spcBef>
              <a:buClr>
                <a:schemeClr val="accent1"/>
              </a:buClr>
              <a:buFont typeface="Courier New" panose="02070309020205020404" pitchFamily="49" charset="0"/>
              <a:buChar char="o"/>
              <a:defRPr sz="2400" cap="all" spc="0" baseline="0"/>
            </a:lvl1pPr>
            <a:lvl2pPr marL="914400">
              <a:defRPr spc="0" baseline="0"/>
            </a:lvl2pPr>
            <a:lvl3pPr marL="1371600">
              <a:defRPr spc="0" baseline="0"/>
            </a:lvl3pPr>
            <a:lvl4pPr marL="1828800">
              <a:defRPr spc="0" baseline="0"/>
            </a:lvl4pPr>
            <a:lvl5pPr marL="2286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90AD0F96-99DE-C9D9-569E-AE6FC6307EA7}"/>
              </a:ext>
            </a:extLst>
          </p:cNvPr>
          <p:cNvSpPr>
            <a:spLocks noGrp="1"/>
          </p:cNvSpPr>
          <p:nvPr>
            <p:ph type="pic" sz="quarter" idx="13"/>
          </p:nvPr>
        </p:nvSpPr>
        <p:spPr>
          <a:xfrm>
            <a:off x="5687568" y="1435608"/>
            <a:ext cx="5897880" cy="3977640"/>
          </a:xfrm>
          <a:noFill/>
        </p:spPr>
        <p:txBody>
          <a:bodyPr anchor="ctr"/>
          <a:lstStyle>
            <a:lvl1pPr marL="0" indent="0" algn="ctr">
              <a:buNone/>
              <a:defRPr/>
            </a:lvl1pPr>
          </a:lstStyle>
          <a:p>
            <a:r>
              <a:rPr lang="en-US"/>
              <a:t>Click icon to add picture</a:t>
            </a:r>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cxnSp>
        <p:nvCxnSpPr>
          <p:cNvPr id="13" name="Straight Connector 12">
            <a:extLst>
              <a:ext uri="{FF2B5EF4-FFF2-40B4-BE49-F238E27FC236}">
                <a16:creationId xmlns:a16="http://schemas.microsoft.com/office/drawing/2014/main" id="{323EB7E3-3953-BAB4-1B15-383082C6C31E}"/>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32321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841248" y="2697480"/>
            <a:ext cx="10515600" cy="2606040"/>
          </a:xfrm>
        </p:spPr>
        <p:txBody>
          <a:bodyPr anchor="ctr">
            <a:normAutofit/>
          </a:bodyPr>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841248" y="6044184"/>
            <a:ext cx="10515600" cy="457200"/>
          </a:xfrm>
        </p:spPr>
        <p:txBody>
          <a:bodyPr>
            <a:norm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0" y="0"/>
            <a:ext cx="12188952" cy="2368296"/>
          </a:xfrm>
        </p:spPr>
        <p:txBody>
          <a:bodyPr/>
          <a:lstStyle>
            <a:lvl1pPr marL="0" indent="0">
              <a:buNone/>
              <a:defRPr/>
            </a:lvl1pPr>
          </a:lstStyle>
          <a:p>
            <a:r>
              <a:rPr lang="en-US"/>
              <a:t>Click icon to add picture</a:t>
            </a:r>
            <a:endParaRPr lang="en-US" dirty="0"/>
          </a:p>
        </p:txBody>
      </p:sp>
      <p:sp>
        <p:nvSpPr>
          <p:cNvPr id="12" name="Rectangle 11">
            <a:extLst>
              <a:ext uri="{FF2B5EF4-FFF2-40B4-BE49-F238E27FC236}">
                <a16:creationId xmlns:a16="http://schemas.microsoft.com/office/drawing/2014/main" id="{103AD4F0-8C4C-FC68-2450-06419A6D0131}"/>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418283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A510974D-B222-2876-052D-21F0E075D288}"/>
              </a:ext>
            </a:extLst>
          </p:cNvPr>
          <p:cNvSpPr/>
          <p:nvPr userDrawn="1"/>
        </p:nvSpPr>
        <p:spPr>
          <a:xfrm>
            <a:off x="0" y="0"/>
            <a:ext cx="12192000" cy="4457700"/>
          </a:xfrm>
          <a:custGeom>
            <a:avLst/>
            <a:gdLst>
              <a:gd name="connsiteX0" fmla="*/ 0 w 12192000"/>
              <a:gd name="connsiteY0" fmla="*/ 0 h 4457700"/>
              <a:gd name="connsiteX1" fmla="*/ 12192000 w 12192000"/>
              <a:gd name="connsiteY1" fmla="*/ 0 h 4457700"/>
              <a:gd name="connsiteX2" fmla="*/ 12192000 w 12192000"/>
              <a:gd name="connsiteY2" fmla="*/ 4457700 h 4457700"/>
              <a:gd name="connsiteX3" fmla="*/ 11563350 w 12192000"/>
              <a:gd name="connsiteY3" fmla="*/ 4457700 h 4457700"/>
              <a:gd name="connsiteX4" fmla="*/ 11563350 w 12192000"/>
              <a:gd name="connsiteY4" fmla="*/ 685800 h 4457700"/>
              <a:gd name="connsiteX5" fmla="*/ 628650 w 12192000"/>
              <a:gd name="connsiteY5" fmla="*/ 685800 h 4457700"/>
              <a:gd name="connsiteX6" fmla="*/ 628650 w 12192000"/>
              <a:gd name="connsiteY6" fmla="*/ 4457700 h 4457700"/>
              <a:gd name="connsiteX7" fmla="*/ 0 w 12192000"/>
              <a:gd name="connsiteY7" fmla="*/ 4457700 h 445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457700">
                <a:moveTo>
                  <a:pt x="0" y="0"/>
                </a:moveTo>
                <a:lnTo>
                  <a:pt x="12192000" y="0"/>
                </a:lnTo>
                <a:lnTo>
                  <a:pt x="12192000" y="4457700"/>
                </a:lnTo>
                <a:lnTo>
                  <a:pt x="11563350" y="4457700"/>
                </a:lnTo>
                <a:lnTo>
                  <a:pt x="11563350" y="685800"/>
                </a:lnTo>
                <a:lnTo>
                  <a:pt x="628650" y="685800"/>
                </a:lnTo>
                <a:lnTo>
                  <a:pt x="628650" y="4457700"/>
                </a:lnTo>
                <a:lnTo>
                  <a:pt x="0" y="44577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978408" y="1143000"/>
            <a:ext cx="10241280" cy="22860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2075688" y="3803904"/>
            <a:ext cx="8046720" cy="9144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Rectangle 15">
            <a:extLst>
              <a:ext uri="{FF2B5EF4-FFF2-40B4-BE49-F238E27FC236}">
                <a16:creationId xmlns:a16="http://schemas.microsoft.com/office/drawing/2014/main" id="{8A1A471A-8A28-B00F-72E9-849D5E6B7257}"/>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922126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3BB82FF-5339-5456-4D30-0C2DA7907AAE}"/>
              </a:ext>
            </a:extLst>
          </p:cNvPr>
          <p:cNvSpPr/>
          <p:nvPr userDrawn="1"/>
        </p:nvSpPr>
        <p:spPr>
          <a:xfrm>
            <a:off x="0" y="0"/>
            <a:ext cx="356616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5340096" y="1097280"/>
            <a:ext cx="6217920" cy="1828800"/>
          </a:xfrm>
        </p:spPr>
        <p:txBody>
          <a:bodyPr/>
          <a:lstStyle>
            <a:lvl1pPr>
              <a:defRPr sz="3200" spc="3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2C39A257-2366-FF6B-67AD-9342B6B0B682}"/>
              </a:ext>
            </a:extLst>
          </p:cNvPr>
          <p:cNvSpPr>
            <a:spLocks noGrp="1"/>
          </p:cNvSpPr>
          <p:nvPr>
            <p:ph type="pic" sz="quarter" idx="13"/>
          </p:nvPr>
        </p:nvSpPr>
        <p:spPr>
          <a:xfrm>
            <a:off x="1298448" y="1828800"/>
            <a:ext cx="3200400" cy="3200400"/>
          </a:xfrm>
          <a:prstGeom prst="ellipse">
            <a:avLst/>
          </a:prstGeom>
        </p:spPr>
        <p:txBody>
          <a:bodyPr/>
          <a:lstStyle>
            <a:lvl1pPr marL="0" indent="0">
              <a:buNone/>
              <a:defRPr/>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5340096" y="3429000"/>
            <a:ext cx="6217920" cy="2743200"/>
          </a:xfrm>
        </p:spPr>
        <p:txBody>
          <a:bodyPr>
            <a:normAutofit/>
          </a:bodyPr>
          <a:lstStyle>
            <a:lvl1pPr marL="457200">
              <a:spcBef>
                <a:spcPts val="1400"/>
              </a:spcBef>
              <a:buSzPct val="80000"/>
              <a:defRPr cap="all" spc="0" baseline="0"/>
            </a:lvl1pPr>
            <a:lvl2pPr marL="914400">
              <a:buSzPct val="80000"/>
              <a:defRPr spc="0" baseline="0"/>
            </a:lvl2pPr>
            <a:lvl3pPr marL="1371600">
              <a:buSzPct val="80000"/>
              <a:defRPr spc="0" baseline="0"/>
            </a:lvl3pPr>
            <a:lvl4pPr marL="1828800">
              <a:buSzPct val="80000"/>
              <a:defRPr spc="0" baseline="0"/>
            </a:lvl4pPr>
            <a:lvl5pPr marL="2286000">
              <a:buSzPct val="80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cxnSp>
        <p:nvCxnSpPr>
          <p:cNvPr id="5" name="Straight Connector 4">
            <a:extLst>
              <a:ext uri="{FF2B5EF4-FFF2-40B4-BE49-F238E27FC236}">
                <a16:creationId xmlns:a16="http://schemas.microsoft.com/office/drawing/2014/main" id="{ADA4A755-28B6-5A01-94AB-C3CCC4368885}"/>
              </a:ext>
            </a:extLst>
          </p:cNvPr>
          <p:cNvCxnSpPr>
            <a:cxnSpLocks/>
          </p:cNvCxnSpPr>
          <p:nvPr userDrawn="1"/>
        </p:nvCxnSpPr>
        <p:spPr>
          <a:xfrm>
            <a:off x="5340096"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36872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2"/>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1524000" y="1481328"/>
            <a:ext cx="9144000" cy="3895344"/>
          </a:xfrm>
          <a:solidFill>
            <a:schemeClr val="bg1"/>
          </a:solidFill>
        </p:spPr>
        <p:txBody>
          <a:bodyPr/>
          <a:lstStyle>
            <a:lvl1pPr marL="0" indent="0">
              <a:buNone/>
              <a:defRPr/>
            </a:lvl1pPr>
          </a:lstStyle>
          <a:p>
            <a:r>
              <a:rPr lang="en-US"/>
              <a:t>Click icon to add picture</a:t>
            </a:r>
            <a:endParaRPr lang="en-US" dirty="0"/>
          </a:p>
        </p:txBody>
      </p:sp>
      <p:sp>
        <p:nvSpPr>
          <p:cNvPr id="11" name="Title 1">
            <a:extLst>
              <a:ext uri="{FF2B5EF4-FFF2-40B4-BE49-F238E27FC236}">
                <a16:creationId xmlns:a16="http://schemas.microsoft.com/office/drawing/2014/main" id="{076C4EAC-BBDE-1963-BD72-3BD2A47DC59C}"/>
              </a:ext>
            </a:extLst>
          </p:cNvPr>
          <p:cNvSpPr>
            <a:spLocks noGrp="1"/>
          </p:cNvSpPr>
          <p:nvPr>
            <p:ph type="ctrTitle"/>
          </p:nvPr>
        </p:nvSpPr>
        <p:spPr>
          <a:xfrm>
            <a:off x="1984248" y="1920240"/>
            <a:ext cx="8229600" cy="3017520"/>
          </a:xfrm>
        </p:spPr>
        <p:txBody>
          <a:bodyPr anchor="ctr"/>
          <a:lstStyle>
            <a:lvl1pPr algn="ctr">
              <a:defRPr sz="5400"/>
            </a:lvl1pPr>
          </a:lstStyle>
          <a:p>
            <a:r>
              <a:rPr lang="en-US"/>
              <a:t>Click to edit Master title style</a:t>
            </a:r>
            <a:endParaRPr lang="en-US" dirty="0"/>
          </a:p>
        </p:txBody>
      </p:sp>
    </p:spTree>
    <p:extLst>
      <p:ext uri="{BB962C8B-B14F-4D97-AF65-F5344CB8AC3E}">
        <p14:creationId xmlns:p14="http://schemas.microsoft.com/office/powerpoint/2010/main" val="24497460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CBCF04C-49F6-66E8-41A0-B3C371944EA1}"/>
              </a:ext>
            </a:extLst>
          </p:cNvPr>
          <p:cNvSpPr/>
          <p:nvPr userDrawn="1"/>
        </p:nvSpPr>
        <p:spPr>
          <a:xfrm>
            <a:off x="6705600" y="0"/>
            <a:ext cx="5486400" cy="6858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3931920"/>
            <a:ext cx="5029200" cy="1828800"/>
          </a:xfrm>
        </p:spPr>
        <p:txBody>
          <a:bodyPr anchor="b" anchorCtr="0"/>
          <a:lstStyle>
            <a:lvl1pPr>
              <a:defRPr sz="3200"/>
            </a:lvl1pPr>
          </a:lstStyle>
          <a:p>
            <a:r>
              <a:rPr lang="en-US"/>
              <a:t>Click to edit Master title style</a:t>
            </a:r>
            <a:endParaRPr lang="en-US" dirty="0"/>
          </a:p>
        </p:txBody>
      </p:sp>
      <p:sp>
        <p:nvSpPr>
          <p:cNvPr id="9" name="Picture Placeholder 7">
            <a:extLst>
              <a:ext uri="{FF2B5EF4-FFF2-40B4-BE49-F238E27FC236}">
                <a16:creationId xmlns:a16="http://schemas.microsoft.com/office/drawing/2014/main" id="{DDE351D0-FB9C-3473-AF28-52927741728E}"/>
              </a:ext>
            </a:extLst>
          </p:cNvPr>
          <p:cNvSpPr>
            <a:spLocks noGrp="1"/>
          </p:cNvSpPr>
          <p:nvPr>
            <p:ph type="pic" sz="quarter" idx="14"/>
          </p:nvPr>
        </p:nvSpPr>
        <p:spPr>
          <a:xfrm>
            <a:off x="1280160" y="548640"/>
            <a:ext cx="3017520" cy="3017520"/>
          </a:xfrm>
          <a:prstGeom prst="ellipse">
            <a:avLst/>
          </a:prstGeom>
        </p:spPr>
        <p:txBody>
          <a:bodyPr/>
          <a:lstStyle>
            <a:lvl1pPr marL="0" indent="0">
              <a:buNone/>
              <a:defRPr/>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7205472" y="731520"/>
            <a:ext cx="4306824" cy="5394960"/>
          </a:xfrm>
        </p:spPr>
        <p:txBody>
          <a:bodyPr anchor="b">
            <a:normAutofit/>
          </a:bodyPr>
          <a:lstStyle>
            <a:lvl1pPr marL="457200">
              <a:spcBef>
                <a:spcPts val="1400"/>
              </a:spcBef>
              <a:buClr>
                <a:schemeClr val="tx1"/>
              </a:buClr>
              <a:buSzPct val="80000"/>
              <a:defRPr cap="all" baseline="0"/>
            </a:lvl1pPr>
            <a:lvl2pPr marL="914400">
              <a:buClr>
                <a:schemeClr val="tx1"/>
              </a:buClr>
              <a:buSzPct val="80000"/>
              <a:defRPr/>
            </a:lvl2pPr>
            <a:lvl3pPr marL="1371600">
              <a:buClr>
                <a:schemeClr val="tx1"/>
              </a:buClr>
              <a:buSzPct val="80000"/>
              <a:defRPr/>
            </a:lvl3pPr>
            <a:lvl4pPr marL="1828800">
              <a:buClr>
                <a:schemeClr val="tx1"/>
              </a:buClr>
              <a:buSzPct val="80000"/>
              <a:defRPr/>
            </a:lvl4pPr>
            <a:lvl5pPr marL="2286000">
              <a:buClr>
                <a:schemeClr val="tx1"/>
              </a:buClr>
              <a:buSzPct val="8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cxnSp>
        <p:nvCxnSpPr>
          <p:cNvPr id="10" name="Straight Connector 9">
            <a:extLst>
              <a:ext uri="{FF2B5EF4-FFF2-40B4-BE49-F238E27FC236}">
                <a16:creationId xmlns:a16="http://schemas.microsoft.com/office/drawing/2014/main" id="{C1171EC5-29BE-C106-1E9B-0CBDB598A131}"/>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31863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light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1097280"/>
            <a:ext cx="9821955" cy="914400"/>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280160" y="2377440"/>
            <a:ext cx="4663440" cy="3566160"/>
          </a:xfrm>
          <a:solidFill>
            <a:schemeClr val="accent1">
              <a:lumMod val="20000"/>
              <a:lumOff val="80000"/>
            </a:schemeClr>
          </a:solidFill>
        </p:spPr>
        <p:txBody>
          <a:bodyPr lIns="365760" tIns="365760" rIns="365760" bIns="365760">
            <a:normAutofit/>
          </a:bodyPr>
          <a:lstStyle>
            <a:lvl1pPr marL="457200">
              <a:lnSpc>
                <a:spcPct val="90000"/>
              </a:lnSpc>
              <a:spcBef>
                <a:spcPts val="1400"/>
              </a:spcBef>
              <a:buClr>
                <a:schemeClr val="tx1"/>
              </a:buClr>
              <a:buSzPct val="80000"/>
              <a:defRPr sz="1800"/>
            </a:lvl1pPr>
            <a:lvl2pPr marL="914400">
              <a:lnSpc>
                <a:spcPct val="90000"/>
              </a:lnSpc>
              <a:buClr>
                <a:schemeClr val="tx1"/>
              </a:buClr>
              <a:buSzPct val="80000"/>
              <a:defRPr sz="1600"/>
            </a:lvl2pPr>
            <a:lvl3pPr marL="1371600">
              <a:lnSpc>
                <a:spcPct val="90000"/>
              </a:lnSpc>
              <a:buClr>
                <a:schemeClr val="tx1"/>
              </a:buClr>
              <a:buSzPct val="80000"/>
              <a:defRPr sz="1400"/>
            </a:lvl3pPr>
            <a:lvl4pPr marL="1828800">
              <a:lnSpc>
                <a:spcPct val="90000"/>
              </a:lnSpc>
              <a:buClr>
                <a:schemeClr val="tx1"/>
              </a:buClr>
              <a:buSzPct val="80000"/>
              <a:defRPr sz="1200"/>
            </a:lvl4pPr>
            <a:lvl5pPr marL="2286000">
              <a:lnSpc>
                <a:spcPct val="90000"/>
              </a:lnSpc>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6309360" y="2377440"/>
            <a:ext cx="4663440" cy="3566160"/>
          </a:xfrm>
          <a:solidFill>
            <a:schemeClr val="accent1">
              <a:lumMod val="20000"/>
              <a:lumOff val="80000"/>
            </a:schemeClr>
          </a:solidFill>
        </p:spPr>
        <p:txBody>
          <a:bodyPr lIns="365760" tIns="365760" rIns="365760" bIns="365760">
            <a:normAutofit/>
          </a:bodyPr>
          <a:lstStyle>
            <a:lvl1pPr marL="457200">
              <a:lnSpc>
                <a:spcPct val="90000"/>
              </a:lnSpc>
              <a:spcBef>
                <a:spcPts val="1400"/>
              </a:spcBef>
              <a:buClr>
                <a:schemeClr val="tx1"/>
              </a:buClr>
              <a:buSzPct val="80000"/>
              <a:defRPr sz="1800"/>
            </a:lvl1pPr>
            <a:lvl2pPr marL="914400">
              <a:lnSpc>
                <a:spcPct val="90000"/>
              </a:lnSpc>
              <a:buClr>
                <a:schemeClr val="tx1"/>
              </a:buClr>
              <a:buSzPct val="80000"/>
              <a:defRPr sz="1600"/>
            </a:lvl2pPr>
            <a:lvl3pPr marL="1371600">
              <a:lnSpc>
                <a:spcPct val="90000"/>
              </a:lnSpc>
              <a:buClr>
                <a:schemeClr val="tx1"/>
              </a:buClr>
              <a:buSzPct val="80000"/>
              <a:defRPr sz="1400"/>
            </a:lvl3pPr>
            <a:lvl4pPr marL="1828800">
              <a:lnSpc>
                <a:spcPct val="90000"/>
              </a:lnSpc>
              <a:buClr>
                <a:schemeClr val="tx1"/>
              </a:buClr>
              <a:buSzPct val="80000"/>
              <a:defRPr sz="1200"/>
            </a:lvl4pPr>
            <a:lvl5pPr marL="2286000">
              <a:lnSpc>
                <a:spcPct val="90000"/>
              </a:lnSpc>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cxnSp>
        <p:nvCxnSpPr>
          <p:cNvPr id="8" name="Straight Connector 7">
            <a:extLst>
              <a:ext uri="{FF2B5EF4-FFF2-40B4-BE49-F238E27FC236}">
                <a16:creationId xmlns:a16="http://schemas.microsoft.com/office/drawing/2014/main" id="{941554B7-BB36-76F6-DD79-11088AA69E8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81793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Title 1">
            <a:extLst>
              <a:ext uri="{FF2B5EF4-FFF2-40B4-BE49-F238E27FC236}">
                <a16:creationId xmlns:a16="http://schemas.microsoft.com/office/drawing/2014/main" id="{89BC2AC2-003C-AACD-1271-F2F8FBE8FD3D}"/>
              </a:ext>
            </a:extLst>
          </p:cNvPr>
          <p:cNvSpPr>
            <a:spLocks noGrp="1"/>
          </p:cNvSpPr>
          <p:nvPr>
            <p:ph type="title"/>
          </p:nvPr>
        </p:nvSpPr>
        <p:spPr>
          <a:xfrm>
            <a:off x="1280160" y="1097280"/>
            <a:ext cx="5029200" cy="1828800"/>
          </a:xfrm>
        </p:spPr>
        <p:txBody>
          <a:bodyPr anchor="t" anchorCtr="0"/>
          <a:lstStyle>
            <a:lvl1pPr>
              <a:defRPr sz="32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DD758F50-A87C-F2A1-40E8-08F07081E9C3}"/>
              </a:ext>
            </a:extLst>
          </p:cNvPr>
          <p:cNvSpPr>
            <a:spLocks noGrp="1"/>
          </p:cNvSpPr>
          <p:nvPr>
            <p:ph sz="half" idx="1"/>
          </p:nvPr>
        </p:nvSpPr>
        <p:spPr>
          <a:xfrm>
            <a:off x="6784848" y="1097280"/>
            <a:ext cx="4572000" cy="1828800"/>
          </a:xfrm>
          <a:noFill/>
        </p:spPr>
        <p:txBody>
          <a:bodyPr lIns="0" tIns="0" rIns="0" bIns="0">
            <a:normAutofit/>
          </a:bodyPr>
          <a:lstStyle>
            <a:lvl1pPr marL="457200">
              <a:spcBef>
                <a:spcPts val="1400"/>
              </a:spcBef>
              <a:buSzPct val="80000"/>
              <a:defRPr sz="1800"/>
            </a:lvl1pPr>
            <a:lvl2pPr marL="914400">
              <a:buSzPct val="80000"/>
              <a:defRPr sz="1600"/>
            </a:lvl2pPr>
            <a:lvl3pPr marL="1371600">
              <a:buSzPct val="80000"/>
              <a:defRPr sz="1400"/>
            </a:lvl3pPr>
            <a:lvl4pPr marL="1828800">
              <a:buSzPct val="80000"/>
              <a:defRPr sz="1200"/>
            </a:lvl4pPr>
            <a:lvl5pPr marL="2286000">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3">
            <a:extLst>
              <a:ext uri="{FF2B5EF4-FFF2-40B4-BE49-F238E27FC236}">
                <a16:creationId xmlns:a16="http://schemas.microsoft.com/office/drawing/2014/main" id="{023B02AB-1DB6-AF79-E1B3-175C76BE57ED}"/>
              </a:ext>
            </a:extLst>
          </p:cNvPr>
          <p:cNvSpPr>
            <a:spLocks noGrp="1"/>
          </p:cNvSpPr>
          <p:nvPr>
            <p:ph sz="half" idx="2"/>
          </p:nvPr>
        </p:nvSpPr>
        <p:spPr>
          <a:xfrm>
            <a:off x="1280160" y="3172968"/>
            <a:ext cx="10076688" cy="3108960"/>
          </a:xfrm>
          <a:noFill/>
        </p:spPr>
        <p:txBody>
          <a:bodyPr lIns="0" tIns="0" rIns="0" bIns="0">
            <a:normAutofit/>
          </a:bodyPr>
          <a:lstStyle>
            <a:lvl1pPr marL="457200">
              <a:spcBef>
                <a:spcPts val="1400"/>
              </a:spcBef>
              <a:buSzPct val="80000"/>
              <a:defRPr sz="1800"/>
            </a:lvl1pPr>
            <a:lvl2pPr marL="914400">
              <a:buSzPct val="80000"/>
              <a:defRPr sz="1600"/>
            </a:lvl2pPr>
            <a:lvl3pPr marL="1371600">
              <a:buSzPct val="80000"/>
              <a:defRPr sz="1400"/>
            </a:lvl3pPr>
            <a:lvl4pPr marL="1828800">
              <a:buSzPct val="80000"/>
              <a:defRPr sz="1200"/>
            </a:lvl4pPr>
            <a:lvl5pPr marL="2286000">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C2041A78-2CBE-4D73-EF5D-E65139C79DC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68634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white">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Title 1">
            <a:extLst>
              <a:ext uri="{FF2B5EF4-FFF2-40B4-BE49-F238E27FC236}">
                <a16:creationId xmlns:a16="http://schemas.microsoft.com/office/drawing/2014/main" id="{89BC2AC2-003C-AACD-1271-F2F8FBE8FD3D}"/>
              </a:ext>
            </a:extLst>
          </p:cNvPr>
          <p:cNvSpPr>
            <a:spLocks noGrp="1"/>
          </p:cNvSpPr>
          <p:nvPr>
            <p:ph type="title"/>
          </p:nvPr>
        </p:nvSpPr>
        <p:spPr>
          <a:xfrm>
            <a:off x="1280160" y="1097280"/>
            <a:ext cx="9820656" cy="914400"/>
          </a:xfrm>
        </p:spPr>
        <p:txBody>
          <a:bodyPr anchor="t" anchorCtr="0"/>
          <a:lstStyle>
            <a:lvl1pPr>
              <a:defRPr sz="32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DD758F50-A87C-F2A1-40E8-08F07081E9C3}"/>
              </a:ext>
            </a:extLst>
          </p:cNvPr>
          <p:cNvSpPr>
            <a:spLocks noGrp="1"/>
          </p:cNvSpPr>
          <p:nvPr>
            <p:ph sz="half" idx="1"/>
          </p:nvPr>
        </p:nvSpPr>
        <p:spPr>
          <a:xfrm>
            <a:off x="1280160" y="2377440"/>
            <a:ext cx="4572000" cy="3429000"/>
          </a:xfrm>
          <a:noFill/>
        </p:spPr>
        <p:txBody>
          <a:bodyPr lIns="0" tIns="0" rIns="0" bIns="0">
            <a:normAutofit/>
          </a:bodyPr>
          <a:lstStyle>
            <a:lvl1pPr marL="228600" indent="-228600">
              <a:lnSpc>
                <a:spcPct val="90000"/>
              </a:lnSpc>
              <a:spcBef>
                <a:spcPts val="1400"/>
              </a:spcBef>
              <a:buSzPct val="80000"/>
              <a:defRPr sz="1800" b="1"/>
            </a:lvl1pPr>
            <a:lvl2pPr marL="457200" indent="0">
              <a:lnSpc>
                <a:spcPct val="90000"/>
              </a:lnSpc>
              <a:spcBef>
                <a:spcPts val="1400"/>
              </a:spcBef>
              <a:buSzPct val="80000"/>
              <a:buNone/>
              <a:defRPr sz="1800"/>
            </a:lvl2pPr>
            <a:lvl3pPr marL="914400">
              <a:lnSpc>
                <a:spcPct val="90000"/>
              </a:lnSpc>
              <a:spcBef>
                <a:spcPts val="1400"/>
              </a:spcBef>
              <a:buSzPct val="80000"/>
              <a:defRPr sz="1800"/>
            </a:lvl3pPr>
            <a:lvl4pPr marL="914400" indent="0">
              <a:lnSpc>
                <a:spcPct val="90000"/>
              </a:lnSpc>
              <a:spcBef>
                <a:spcPts val="1400"/>
              </a:spcBef>
              <a:buSzPct val="80000"/>
              <a:buNone/>
              <a:defRPr sz="1800"/>
            </a:lvl4pPr>
            <a:lvl5pPr marL="1371600">
              <a:lnSpc>
                <a:spcPct val="90000"/>
              </a:lnSpc>
              <a:spcBef>
                <a:spcPts val="1400"/>
              </a:spcBef>
              <a:buSzPct val="8000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3">
            <a:extLst>
              <a:ext uri="{FF2B5EF4-FFF2-40B4-BE49-F238E27FC236}">
                <a16:creationId xmlns:a16="http://schemas.microsoft.com/office/drawing/2014/main" id="{023B02AB-1DB6-AF79-E1B3-175C76BE57ED}"/>
              </a:ext>
            </a:extLst>
          </p:cNvPr>
          <p:cNvSpPr>
            <a:spLocks noGrp="1"/>
          </p:cNvSpPr>
          <p:nvPr>
            <p:ph sz="half" idx="2"/>
          </p:nvPr>
        </p:nvSpPr>
        <p:spPr>
          <a:xfrm>
            <a:off x="6227064" y="2377440"/>
            <a:ext cx="4645152" cy="3429000"/>
          </a:xfrm>
          <a:noFill/>
        </p:spPr>
        <p:txBody>
          <a:bodyPr lIns="0" tIns="0" rIns="0" bIns="0">
            <a:normAutofit/>
          </a:bodyPr>
          <a:lstStyle>
            <a:lvl1pPr marL="457200">
              <a:spcBef>
                <a:spcPts val="1400"/>
              </a:spcBef>
              <a:buSzPct val="80000"/>
              <a:defRPr sz="1800"/>
            </a:lvl1pPr>
            <a:lvl2pPr marL="914400">
              <a:buSzPct val="80000"/>
              <a:defRPr sz="1800"/>
            </a:lvl2pPr>
            <a:lvl3pPr marL="1371600">
              <a:buSzPct val="80000"/>
              <a:defRPr sz="1800"/>
            </a:lvl3pPr>
            <a:lvl4pPr marL="1828800">
              <a:buSzPct val="80000"/>
              <a:defRPr sz="1800"/>
            </a:lvl4pPr>
            <a:lvl5pPr marL="2286000">
              <a:buSzPct val="8000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C2041A78-2CBE-4D73-EF5D-E65139C79DC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88629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Title 1">
            <a:extLst>
              <a:ext uri="{FF2B5EF4-FFF2-40B4-BE49-F238E27FC236}">
                <a16:creationId xmlns:a16="http://schemas.microsoft.com/office/drawing/2014/main" id="{A659BA83-0C6E-2A70-AED3-E386CABE654A}"/>
              </a:ext>
            </a:extLst>
          </p:cNvPr>
          <p:cNvSpPr>
            <a:spLocks noGrp="1"/>
          </p:cNvSpPr>
          <p:nvPr>
            <p:ph type="title"/>
          </p:nvPr>
        </p:nvSpPr>
        <p:spPr>
          <a:xfrm>
            <a:off x="1280160" y="1097280"/>
            <a:ext cx="9601200" cy="914400"/>
          </a:xfrm>
        </p:spPr>
        <p:txBody>
          <a:bodyPr anchor="t" anchorCtr="0"/>
          <a:lstStyle>
            <a:lvl1pPr>
              <a:defRPr sz="3200"/>
            </a:lvl1pPr>
          </a:lstStyle>
          <a:p>
            <a:r>
              <a:rPr lang="en-US"/>
              <a:t>Click to edit Master title style</a:t>
            </a:r>
            <a:endParaRPr lang="en-US" dirty="0"/>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1280160" y="2377440"/>
            <a:ext cx="9619488" cy="3429000"/>
          </a:xfrm>
        </p:spPr>
        <p:txBody>
          <a:bodyPr/>
          <a:lstStyle>
            <a:lvl1pPr marL="0" indent="0">
              <a:buNone/>
              <a:defRPr/>
            </a:lvl1pPr>
          </a:lstStyle>
          <a:p>
            <a:r>
              <a:rPr lang="en-US"/>
              <a:t>Click icon to add table</a:t>
            </a:r>
            <a:endParaRPr lang="en-US" dirty="0"/>
          </a:p>
        </p:txBody>
      </p:sp>
      <p:cxnSp>
        <p:nvCxnSpPr>
          <p:cNvPr id="7" name="Straight Connector 6">
            <a:extLst>
              <a:ext uri="{FF2B5EF4-FFF2-40B4-BE49-F238E27FC236}">
                <a16:creationId xmlns:a16="http://schemas.microsoft.com/office/drawing/2014/main" id="{5D612406-06E6-DCE4-7F2F-D98836A802A6}"/>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75470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g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1097280"/>
            <a:ext cx="9821955" cy="914400"/>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280160" y="2377440"/>
            <a:ext cx="4663440" cy="3566160"/>
          </a:xfrm>
          <a:solidFill>
            <a:schemeClr val="accent4"/>
          </a:solidFill>
        </p:spPr>
        <p:txBody>
          <a:bodyPr lIns="365760" tIns="365760" rIns="365760" bIns="365760">
            <a:normAutofit/>
          </a:bodyPr>
          <a:lstStyle>
            <a:lvl1pPr marL="457200">
              <a:spcBef>
                <a:spcPts val="1400"/>
              </a:spcBef>
              <a:buClr>
                <a:schemeClr val="tx1"/>
              </a:buClr>
              <a:buSzPct val="80000"/>
              <a:defRPr sz="1800"/>
            </a:lvl1pPr>
            <a:lvl2pPr marL="914400">
              <a:buClr>
                <a:schemeClr val="tx1"/>
              </a:buClr>
              <a:buSzPct val="80000"/>
              <a:defRPr sz="1600"/>
            </a:lvl2pPr>
            <a:lvl3pPr marL="1371600">
              <a:buClr>
                <a:schemeClr val="tx1"/>
              </a:buClr>
              <a:buSzPct val="80000"/>
              <a:defRPr sz="1400"/>
            </a:lvl3pPr>
            <a:lvl4pPr marL="1828800">
              <a:buClr>
                <a:schemeClr val="tx1"/>
              </a:buClr>
              <a:buSzPct val="80000"/>
              <a:defRPr sz="1200"/>
            </a:lvl4pPr>
            <a:lvl5pPr marL="2286000">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6309360" y="2377440"/>
            <a:ext cx="4663440" cy="3566160"/>
          </a:xfrm>
          <a:solidFill>
            <a:schemeClr val="accent4"/>
          </a:solidFill>
        </p:spPr>
        <p:txBody>
          <a:bodyPr lIns="365760" tIns="365760" rIns="365760" bIns="365760">
            <a:normAutofit/>
          </a:bodyPr>
          <a:lstStyle>
            <a:lvl1pPr marL="457200">
              <a:spcBef>
                <a:spcPts val="1400"/>
              </a:spcBef>
              <a:buClr>
                <a:schemeClr val="tx1"/>
              </a:buClr>
              <a:buSzPct val="80000"/>
              <a:defRPr sz="1800" cap="all" baseline="0"/>
            </a:lvl1pPr>
            <a:lvl2pPr marL="914400">
              <a:buClr>
                <a:schemeClr val="tx1"/>
              </a:buClr>
              <a:buSzPct val="80000"/>
              <a:defRPr sz="1600"/>
            </a:lvl2pPr>
            <a:lvl3pPr marL="1371600">
              <a:buClr>
                <a:schemeClr val="tx1"/>
              </a:buClr>
              <a:buSzPct val="80000"/>
              <a:defRPr sz="1400"/>
            </a:lvl3pPr>
            <a:lvl4pPr marL="1828800">
              <a:buClr>
                <a:schemeClr val="tx1"/>
              </a:buClr>
              <a:buSzPct val="80000"/>
              <a:defRPr sz="1200"/>
            </a:lvl4pPr>
            <a:lvl5pPr marL="2286000">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cxnSp>
        <p:nvCxnSpPr>
          <p:cNvPr id="8" name="Straight Connector 7">
            <a:extLst>
              <a:ext uri="{FF2B5EF4-FFF2-40B4-BE49-F238E27FC236}">
                <a16:creationId xmlns:a16="http://schemas.microsoft.com/office/drawing/2014/main" id="{941554B7-BB36-76F6-DD79-11088AA69E8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54567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1"/>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ABAFD431-F46D-3701-6A51-738ADAF3A5E3}"/>
              </a:ext>
            </a:extLst>
          </p:cNvPr>
          <p:cNvSpPr>
            <a:spLocks noGrp="1"/>
          </p:cNvSpPr>
          <p:nvPr>
            <p:ph type="title"/>
          </p:nvPr>
        </p:nvSpPr>
        <p:spPr>
          <a:xfrm>
            <a:off x="841248" y="3163824"/>
            <a:ext cx="10515600" cy="2322576"/>
          </a:xfrm>
          <a:prstGeom prst="rect">
            <a:avLst/>
          </a:prstGeom>
          <a:noFill/>
        </p:spPr>
        <p:txBody>
          <a:bodyPr wrap="square" bIns="0" anchor="ctr">
            <a:noAutofit/>
          </a:bodyPr>
          <a:lstStyle>
            <a:lvl1pPr algn="ct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CAFD788D-D699-2BA7-3637-AA3B48C09084}"/>
              </a:ext>
            </a:extLst>
          </p:cNvPr>
          <p:cNvSpPr>
            <a:spLocks noGrp="1"/>
          </p:cNvSpPr>
          <p:nvPr>
            <p:ph type="pic" sz="quarter" idx="13"/>
          </p:nvPr>
        </p:nvSpPr>
        <p:spPr>
          <a:xfrm>
            <a:off x="4953000" y="548640"/>
            <a:ext cx="2286000" cy="2286000"/>
          </a:xfrm>
          <a:prstGeom prst="ellipse">
            <a:avLst/>
          </a:prstGeom>
        </p:spPr>
        <p:txBody>
          <a:bodyPr anchor="t"/>
          <a:lstStyle>
            <a:lvl1pPr marL="0" indent="0" algn="ctr">
              <a:buNone/>
              <a:defRPr sz="1050">
                <a:solidFill>
                  <a:schemeClr val="tx1"/>
                </a:solidFill>
              </a:defRPr>
            </a:lvl1pPr>
          </a:lstStyle>
          <a:p>
            <a:r>
              <a:rPr lang="en-US"/>
              <a:t>Click icon to add picture</a:t>
            </a:r>
            <a:endParaRPr lang="en-US" dirty="0"/>
          </a:p>
        </p:txBody>
      </p:sp>
      <p:sp>
        <p:nvSpPr>
          <p:cNvPr id="13" name="Text Placeholder 12">
            <a:extLst>
              <a:ext uri="{FF2B5EF4-FFF2-40B4-BE49-F238E27FC236}">
                <a16:creationId xmlns:a16="http://schemas.microsoft.com/office/drawing/2014/main" id="{7808A0C0-A02B-D1C7-6DE5-CA25624AD099}"/>
              </a:ext>
            </a:extLst>
          </p:cNvPr>
          <p:cNvSpPr>
            <a:spLocks noGrp="1"/>
          </p:cNvSpPr>
          <p:nvPr>
            <p:ph type="body" sz="quarter" idx="14"/>
          </p:nvPr>
        </p:nvSpPr>
        <p:spPr>
          <a:xfrm>
            <a:off x="1572768" y="6044184"/>
            <a:ext cx="9116568" cy="365760"/>
          </a:xfrm>
        </p:spPr>
        <p:txBody>
          <a:bodyPr anchor="t"/>
          <a:lstStyle>
            <a:lvl1pPr marL="0" indent="0" algn="ctr">
              <a:lnSpc>
                <a:spcPct val="90000"/>
              </a:lnSpc>
              <a:spcBef>
                <a:spcPts val="0"/>
              </a:spcBef>
              <a:buNone/>
              <a:defRPr sz="2400" cap="all" baseline="0"/>
            </a:lvl1pPr>
          </a:lstStyle>
          <a:p>
            <a:pPr lvl="0"/>
            <a:r>
              <a:rPr lang="en-US"/>
              <a:t>Click to edit Master text styles</a:t>
            </a:r>
          </a:p>
        </p:txBody>
      </p:sp>
      <p:sp>
        <p:nvSpPr>
          <p:cNvPr id="3" name="Rectangle 2">
            <a:extLst>
              <a:ext uri="{FF2B5EF4-FFF2-40B4-BE49-F238E27FC236}">
                <a16:creationId xmlns:a16="http://schemas.microsoft.com/office/drawing/2014/main" id="{7ECE7D81-1954-1B1F-C0AC-21C85AFD3C1E}"/>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0348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1295400" y="609600"/>
            <a:ext cx="9821955" cy="125611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295400" y="1855945"/>
            <a:ext cx="9821955"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Slide Number Placeholder 20">
            <a:extLst>
              <a:ext uri="{FF2B5EF4-FFF2-40B4-BE49-F238E27FC236}">
                <a16:creationId xmlns:a16="http://schemas.microsoft.com/office/drawing/2014/main" id="{78A08F60-CEF1-832D-D403-282EA76CBEF2}"/>
              </a:ext>
            </a:extLst>
          </p:cNvPr>
          <p:cNvSpPr>
            <a:spLocks noGrp="1"/>
          </p:cNvSpPr>
          <p:nvPr>
            <p:ph type="sldNum" sz="quarter" idx="4"/>
          </p:nvPr>
        </p:nvSpPr>
        <p:spPr>
          <a:xfrm>
            <a:off x="420624" y="6019801"/>
            <a:ext cx="457200" cy="184150"/>
          </a:xfrm>
          <a:prstGeom prst="rect">
            <a:avLst/>
          </a:prstGeom>
        </p:spPr>
        <p:txBody>
          <a:bodyPr vert="horz" lIns="0" tIns="0" rIns="0" bIns="0" rtlCol="0" anchor="ctr"/>
          <a:lstStyle>
            <a:lvl1pPr algn="ctr">
              <a:defRPr sz="1200" cap="all" spc="200" baseline="0">
                <a:solidFill>
                  <a:schemeClr val="accent1"/>
                </a:solidFill>
                <a:latin typeface="Posterama" panose="020B0504020200020000" pitchFamily="34" charset="0"/>
              </a:defRPr>
            </a:lvl1pPr>
          </a:lstStyle>
          <a:p>
            <a:fld id="{75DF2D63-3FF5-D547-96B9-BE9CCD1ABA58}" type="slidenum">
              <a:rPr lang="en-US" smtClean="0"/>
              <a:pPr/>
              <a:t>‹#›</a:t>
            </a:fld>
            <a:endParaRPr lang="en-US" dirty="0"/>
          </a:p>
        </p:txBody>
      </p:sp>
    </p:spTree>
    <p:extLst>
      <p:ext uri="{BB962C8B-B14F-4D97-AF65-F5344CB8AC3E}">
        <p14:creationId xmlns:p14="http://schemas.microsoft.com/office/powerpoint/2010/main" val="3073563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ftr="0" dt="0"/>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Posterama" panose="020B0504020200020000" pitchFamily="34" charset="0"/>
        </a:defRPr>
      </a:lvl1pPr>
    </p:titleStyle>
    <p:bodyStyle>
      <a:lvl1pPr marL="228600" indent="-457200" algn="l" defTabSz="914400" rtl="0" eaLnBrk="1" latinLnBrk="0" hangingPunct="1">
        <a:lnSpc>
          <a:spcPct val="100000"/>
        </a:lnSpc>
        <a:spcBef>
          <a:spcPts val="1000"/>
        </a:spcBef>
        <a:buClr>
          <a:schemeClr val="accent1"/>
        </a:buClr>
        <a:buFont typeface="Courier New" panose="02070309020205020404" pitchFamily="49" charset="0"/>
        <a:buChar char="o"/>
        <a:defRPr sz="2400" b="0" i="0" kern="1200" cap="none" baseline="0">
          <a:solidFill>
            <a:schemeClr val="tx1"/>
          </a:solidFill>
          <a:latin typeface="+mn-lt"/>
          <a:ea typeface="+mn-ea"/>
          <a:cs typeface="+mn-cs"/>
        </a:defRPr>
      </a:lvl1pPr>
      <a:lvl2pPr marL="685800" indent="-457200" algn="l" defTabSz="914400" rtl="0" eaLnBrk="1" latinLnBrk="0" hangingPunct="1">
        <a:lnSpc>
          <a:spcPct val="100000"/>
        </a:lnSpc>
        <a:spcBef>
          <a:spcPts val="500"/>
        </a:spcBef>
        <a:buClr>
          <a:schemeClr val="accent1"/>
        </a:buClr>
        <a:buFont typeface="Courier New" panose="02070309020205020404" pitchFamily="49" charset="0"/>
        <a:buChar char="o"/>
        <a:defRPr sz="2000" b="0" i="0" kern="1200" baseline="0">
          <a:solidFill>
            <a:schemeClr val="tx1"/>
          </a:solidFill>
          <a:latin typeface="+mn-lt"/>
          <a:ea typeface="+mn-ea"/>
          <a:cs typeface="+mn-cs"/>
        </a:defRPr>
      </a:lvl2pPr>
      <a:lvl3pPr marL="1143000" indent="-457200" algn="l" defTabSz="914400" rtl="0" eaLnBrk="1" latinLnBrk="0" hangingPunct="1">
        <a:lnSpc>
          <a:spcPct val="100000"/>
        </a:lnSpc>
        <a:spcBef>
          <a:spcPts val="500"/>
        </a:spcBef>
        <a:buClr>
          <a:schemeClr val="accent1"/>
        </a:buClr>
        <a:buFont typeface="Courier New" panose="02070309020205020404" pitchFamily="49" charset="0"/>
        <a:buChar char="o"/>
        <a:defRPr sz="1800" b="0" i="0" kern="1200" baseline="0">
          <a:solidFill>
            <a:schemeClr val="tx1"/>
          </a:solidFill>
          <a:latin typeface="+mn-lt"/>
          <a:ea typeface="+mn-ea"/>
          <a:cs typeface="+mn-cs"/>
        </a:defRPr>
      </a:lvl3pPr>
      <a:lvl4pPr marL="1600200" indent="-457200" algn="l" defTabSz="914400" rtl="0" eaLnBrk="1" latinLnBrk="0" hangingPunct="1">
        <a:lnSpc>
          <a:spcPct val="100000"/>
        </a:lnSpc>
        <a:spcBef>
          <a:spcPts val="500"/>
        </a:spcBef>
        <a:buClr>
          <a:schemeClr val="accent1"/>
        </a:buClr>
        <a:buFont typeface="Courier New" panose="02070309020205020404" pitchFamily="49" charset="0"/>
        <a:buChar char="o"/>
        <a:defRPr sz="1600" b="0" i="0" kern="1200" baseline="0">
          <a:solidFill>
            <a:schemeClr val="tx1"/>
          </a:solidFill>
          <a:latin typeface="+mn-lt"/>
          <a:ea typeface="+mn-ea"/>
          <a:cs typeface="+mn-cs"/>
        </a:defRPr>
      </a:lvl4pPr>
      <a:lvl5pPr marL="2057400" indent="-457200" algn="l" defTabSz="914400" rtl="0" eaLnBrk="1" latinLnBrk="0" hangingPunct="1">
        <a:lnSpc>
          <a:spcPct val="100000"/>
        </a:lnSpc>
        <a:spcBef>
          <a:spcPts val="500"/>
        </a:spcBef>
        <a:buClr>
          <a:schemeClr val="accent1"/>
        </a:buClr>
        <a:buFont typeface="Courier New" panose="02070309020205020404" pitchFamily="49" charset="0"/>
        <a:buChar char="o"/>
        <a:defRPr sz="14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CEAEF"/>
        </a:solidFill>
        <a:effectLst/>
      </p:bgPr>
    </p:bg>
    <p:spTree>
      <p:nvGrpSpPr>
        <p:cNvPr id="1" name=""/>
        <p:cNvGrpSpPr/>
        <p:nvPr/>
      </p:nvGrpSpPr>
      <p:grpSpPr>
        <a:xfrm>
          <a:off x="0" y="0"/>
          <a:ext cx="0" cy="0"/>
          <a:chOff x="0" y="0"/>
          <a:chExt cx="0" cy="0"/>
        </a:xfrm>
      </p:grpSpPr>
      <p:sp>
        <p:nvSpPr>
          <p:cNvPr id="2" name="Rectangle 1"/>
          <p:cNvSpPr/>
          <p:nvPr/>
        </p:nvSpPr>
        <p:spPr>
          <a:xfrm>
            <a:off x="320040" y="457200"/>
            <a:ext cx="11548872" cy="5989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97296" y="4434840"/>
            <a:ext cx="457200" cy="73152"/>
          </a:xfrm>
          <a:prstGeom prst="rect">
            <a:avLst/>
          </a:prstGeom>
          <a:solidFill>
            <a:srgbClr val="89D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971800" y="5577840"/>
            <a:ext cx="6217920" cy="365760"/>
          </a:xfrm>
          <a:prstGeom prst="rect">
            <a:avLst/>
          </a:prstGeom>
          <a:noFill/>
        </p:spPr>
        <p:txBody>
          <a:bodyPr wrap="square" lIns="36576" tIns="36576" rIns="36576" bIns="36576" anchor="t">
            <a:spAutoFit/>
          </a:bodyPr>
          <a:lstStyle/>
          <a:p>
            <a:pPr algn="ctr"/>
            <a:r>
              <a:rPr sz="1400" b="0">
                <a:solidFill>
                  <a:srgbClr val="323232"/>
                </a:solidFill>
                <a:latin typeface="Arial"/>
              </a:rPr>
              <a:t>Project Presentation</a:t>
            </a:r>
          </a:p>
        </p:txBody>
      </p:sp>
      <p:sp>
        <p:nvSpPr>
          <p:cNvPr id="8" name="Title 3">
            <a:extLst>
              <a:ext uri="{FF2B5EF4-FFF2-40B4-BE49-F238E27FC236}">
                <a16:creationId xmlns:a16="http://schemas.microsoft.com/office/drawing/2014/main" id="{67968577-5A8B-19E7-625C-3EB3BD6ABD8F}"/>
              </a:ext>
            </a:extLst>
          </p:cNvPr>
          <p:cNvSpPr txBox="1">
            <a:spLocks/>
          </p:cNvSpPr>
          <p:nvPr/>
        </p:nvSpPr>
        <p:spPr>
          <a:xfrm>
            <a:off x="906162" y="2263758"/>
            <a:ext cx="10515600" cy="402336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800" b="1"/>
              <a:t>Temporal ReF-LLE: Personalized Low-Light Enhancement via Reference-Guided Deep Reinforcement Learning for low luminescence videos </a:t>
            </a:r>
            <a:endParaRPr lang="en-US" sz="2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EB422-1287-FCEB-63CE-599FDC8468D8}"/>
              </a:ext>
            </a:extLst>
          </p:cNvPr>
          <p:cNvSpPr>
            <a:spLocks noGrp="1"/>
          </p:cNvSpPr>
          <p:nvPr>
            <p:ph type="title"/>
          </p:nvPr>
        </p:nvSpPr>
        <p:spPr>
          <a:xfrm>
            <a:off x="1280160" y="1097280"/>
            <a:ext cx="4114800" cy="2286000"/>
          </a:xfrm>
        </p:spPr>
        <p:txBody>
          <a:bodyPr/>
          <a:lstStyle/>
          <a:p>
            <a:r>
              <a:rPr lang="en-US" dirty="0"/>
              <a:t>Team members</a:t>
            </a:r>
            <a:br>
              <a:rPr lang="en-US" dirty="0"/>
            </a:br>
            <a:endParaRPr lang="en-US" dirty="0"/>
          </a:p>
        </p:txBody>
      </p:sp>
      <p:sp>
        <p:nvSpPr>
          <p:cNvPr id="3" name="Content Placeholder 2">
            <a:extLst>
              <a:ext uri="{FF2B5EF4-FFF2-40B4-BE49-F238E27FC236}">
                <a16:creationId xmlns:a16="http://schemas.microsoft.com/office/drawing/2014/main" id="{4D038CD2-9585-7E51-5359-D52935A77DF0}"/>
              </a:ext>
            </a:extLst>
          </p:cNvPr>
          <p:cNvSpPr>
            <a:spLocks noGrp="1"/>
          </p:cNvSpPr>
          <p:nvPr>
            <p:ph idx="1"/>
          </p:nvPr>
        </p:nvSpPr>
        <p:spPr>
          <a:xfrm>
            <a:off x="1280160" y="3108960"/>
            <a:ext cx="4114800" cy="2651760"/>
          </a:xfrm>
        </p:spPr>
        <p:txBody>
          <a:bodyPr vert="horz" lIns="0" tIns="0" rIns="0" bIns="0" rtlCol="0" anchor="t">
            <a:noAutofit/>
          </a:bodyPr>
          <a:lstStyle/>
          <a:p>
            <a:r>
              <a:rPr lang="en-US" dirty="0" err="1"/>
              <a:t>Anumeya</a:t>
            </a:r>
            <a:r>
              <a:rPr lang="en-US" dirty="0"/>
              <a:t> Sehgal</a:t>
            </a:r>
          </a:p>
          <a:p>
            <a:r>
              <a:rPr lang="en-US" dirty="0"/>
              <a:t>Akshat Sinha</a:t>
            </a:r>
          </a:p>
          <a:p>
            <a:r>
              <a:rPr lang="en-US" dirty="0"/>
              <a:t>Joel </a:t>
            </a:r>
            <a:r>
              <a:rPr lang="en-US" dirty="0" err="1"/>
              <a:t>dennis</a:t>
            </a:r>
            <a:endParaRPr lang="en-US" dirty="0"/>
          </a:p>
          <a:p>
            <a:r>
              <a:rPr lang="en-US" dirty="0" err="1"/>
              <a:t>Adibhatla</a:t>
            </a:r>
            <a:r>
              <a:rPr lang="en-US" dirty="0"/>
              <a:t> </a:t>
            </a:r>
            <a:r>
              <a:rPr lang="en-US" dirty="0" err="1"/>
              <a:t>sai</a:t>
            </a:r>
            <a:r>
              <a:rPr lang="en-US" dirty="0"/>
              <a:t> </a:t>
            </a:r>
            <a:r>
              <a:rPr lang="en-US" dirty="0" err="1"/>
              <a:t>prashanth</a:t>
            </a:r>
            <a:endParaRPr lang="en-US" dirty="0"/>
          </a:p>
        </p:txBody>
      </p:sp>
    </p:spTree>
    <p:extLst>
      <p:ext uri="{BB962C8B-B14F-4D97-AF65-F5344CB8AC3E}">
        <p14:creationId xmlns:p14="http://schemas.microsoft.com/office/powerpoint/2010/main" val="2910866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CEAEF"/>
        </a:solidFill>
        <a:effectLst/>
      </p:bgPr>
    </p:bg>
    <p:spTree>
      <p:nvGrpSpPr>
        <p:cNvPr id="1" name=""/>
        <p:cNvGrpSpPr/>
        <p:nvPr/>
      </p:nvGrpSpPr>
      <p:grpSpPr>
        <a:xfrm>
          <a:off x="0" y="0"/>
          <a:ext cx="0" cy="0"/>
          <a:chOff x="0" y="0"/>
          <a:chExt cx="0" cy="0"/>
        </a:xfrm>
      </p:grpSpPr>
      <p:sp>
        <p:nvSpPr>
          <p:cNvPr id="2" name="Rectangle 1"/>
          <p:cNvSpPr/>
          <p:nvPr/>
        </p:nvSpPr>
        <p:spPr>
          <a:xfrm>
            <a:off x="320040" y="627970"/>
            <a:ext cx="11548872" cy="6016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35592"/>
            <a:ext cx="10835640" cy="594360"/>
          </a:xfrm>
          <a:prstGeom prst="rect">
            <a:avLst/>
          </a:prstGeom>
          <a:noFill/>
        </p:spPr>
        <p:txBody>
          <a:bodyPr wrap="square" lIns="36576" tIns="36576" rIns="36576" bIns="36576" anchor="t">
            <a:spAutoFit/>
          </a:bodyPr>
          <a:lstStyle/>
          <a:p>
            <a:pPr algn="ctr"/>
            <a:r>
              <a:rPr sz="4000" b="0" dirty="0">
                <a:solidFill>
                  <a:srgbClr val="0A0A0A"/>
                </a:solidFill>
                <a:latin typeface="Arial"/>
              </a:rPr>
              <a:t>PROBLEM APPROACHED</a:t>
            </a:r>
          </a:p>
        </p:txBody>
      </p:sp>
      <p:sp>
        <p:nvSpPr>
          <p:cNvPr id="4" name="Rectangle 3"/>
          <p:cNvSpPr/>
          <p:nvPr/>
        </p:nvSpPr>
        <p:spPr>
          <a:xfrm>
            <a:off x="5824728" y="850392"/>
            <a:ext cx="384048" cy="64008"/>
          </a:xfrm>
          <a:prstGeom prst="rect">
            <a:avLst/>
          </a:prstGeom>
          <a:solidFill>
            <a:srgbClr val="89D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325880"/>
            <a:ext cx="10469880" cy="365760"/>
          </a:xfrm>
          <a:prstGeom prst="rect">
            <a:avLst/>
          </a:prstGeom>
          <a:noFill/>
        </p:spPr>
        <p:txBody>
          <a:bodyPr wrap="square" lIns="36576" tIns="36576" rIns="36576" bIns="36576" anchor="t">
            <a:spAutoFit/>
          </a:bodyPr>
          <a:lstStyle/>
          <a:p>
            <a:pPr algn="l"/>
            <a:r>
              <a:rPr sz="2400" b="1">
                <a:solidFill>
                  <a:srgbClr val="0A0A0A"/>
                </a:solidFill>
                <a:latin typeface="Arial"/>
              </a:rPr>
              <a:t>Introduction to Low-Light Image Enhancement (LLIE)</a:t>
            </a:r>
          </a:p>
        </p:txBody>
      </p:sp>
      <p:sp>
        <p:nvSpPr>
          <p:cNvPr id="6" name="TextBox 5"/>
          <p:cNvSpPr txBox="1"/>
          <p:nvPr/>
        </p:nvSpPr>
        <p:spPr>
          <a:xfrm>
            <a:off x="868680" y="1801368"/>
            <a:ext cx="10469880" cy="3776472"/>
          </a:xfrm>
          <a:prstGeom prst="rect">
            <a:avLst/>
          </a:prstGeom>
          <a:noFill/>
        </p:spPr>
        <p:txBody>
          <a:bodyPr wrap="square" lIns="36576" tIns="36576" rIns="36576" bIns="36576" anchor="t">
            <a:spAutoFit/>
          </a:bodyPr>
          <a:lstStyle/>
          <a:p>
            <a:pPr algn="l"/>
            <a:r>
              <a:rPr sz="1800" b="0">
                <a:solidFill>
                  <a:srgbClr val="323232"/>
                </a:solidFill>
                <a:latin typeface="Arial"/>
              </a:rPr>
              <a:t>Low-light image enhancement is an important computer vision problem because images captured under insufficient illumination often suffer from poor visibility, loss of detail, color distortion, and degraded perceptual quality. The ReF-LLE paper identifies two major challenges in LLIE: significant variations in low-light images under different conditions and the fact that the desired enhancement level is subjective and depends on user preferences. The goal is therefore not simply to produce one fixed enhancement result, but to adapt enhancement to different lighting conditions and preferred illumination levels. For video, this problem becomes harder because enhancement must also remain consistent across consecutive frames.</a:t>
            </a:r>
          </a:p>
        </p:txBody>
      </p:sp>
      <p:sp>
        <p:nvSpPr>
          <p:cNvPr id="7" name="TextBox 6"/>
          <p:cNvSpPr txBox="1"/>
          <p:nvPr/>
        </p:nvSpPr>
        <p:spPr>
          <a:xfrm>
            <a:off x="685800" y="6565392"/>
            <a:ext cx="10835640" cy="164592"/>
          </a:xfrm>
          <a:prstGeom prst="rect">
            <a:avLst/>
          </a:prstGeom>
          <a:noFill/>
        </p:spPr>
        <p:txBody>
          <a:bodyPr wrap="square" lIns="36576" tIns="36576" rIns="36576" bIns="36576" anchor="t">
            <a:spAutoFit/>
          </a:bodyPr>
          <a:lstStyle/>
          <a:p>
            <a:pPr algn="ctr"/>
            <a:r>
              <a:rPr sz="800" b="0">
                <a:solidFill>
                  <a:srgbClr val="5F5F5F"/>
                </a:solidFill>
                <a:latin typeface="Arial"/>
              </a:rPr>
              <a:t>Source: ReF-LLE, Introduction and Abstract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CEAEF"/>
        </a:solidFill>
        <a:effectLst/>
      </p:bgPr>
    </p:bg>
    <p:spTree>
      <p:nvGrpSpPr>
        <p:cNvPr id="1" name=""/>
        <p:cNvGrpSpPr/>
        <p:nvPr/>
      </p:nvGrpSpPr>
      <p:grpSpPr>
        <a:xfrm>
          <a:off x="0" y="0"/>
          <a:ext cx="0" cy="0"/>
          <a:chOff x="0" y="0"/>
          <a:chExt cx="0" cy="0"/>
        </a:xfrm>
      </p:grpSpPr>
      <p:sp>
        <p:nvSpPr>
          <p:cNvPr id="2" name="Rectangle 1"/>
          <p:cNvSpPr/>
          <p:nvPr/>
        </p:nvSpPr>
        <p:spPr>
          <a:xfrm>
            <a:off x="320040" y="621792"/>
            <a:ext cx="11548872" cy="6016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9414"/>
            <a:ext cx="10835640" cy="594360"/>
          </a:xfrm>
          <a:prstGeom prst="rect">
            <a:avLst/>
          </a:prstGeom>
          <a:noFill/>
        </p:spPr>
        <p:txBody>
          <a:bodyPr wrap="square" lIns="36576" tIns="36576" rIns="36576" bIns="36576" anchor="t">
            <a:spAutoFit/>
          </a:bodyPr>
          <a:lstStyle/>
          <a:p>
            <a:pPr algn="ctr"/>
            <a:r>
              <a:rPr sz="4000" b="0">
                <a:solidFill>
                  <a:srgbClr val="0A0A0A"/>
                </a:solidFill>
                <a:latin typeface="Arial"/>
              </a:rPr>
              <a:t>BASE PAPER</a:t>
            </a:r>
          </a:p>
        </p:txBody>
      </p:sp>
      <p:sp>
        <p:nvSpPr>
          <p:cNvPr id="4" name="Rectangle 3"/>
          <p:cNvSpPr/>
          <p:nvPr/>
        </p:nvSpPr>
        <p:spPr>
          <a:xfrm>
            <a:off x="5824728" y="850392"/>
            <a:ext cx="384048" cy="64008"/>
          </a:xfrm>
          <a:prstGeom prst="rect">
            <a:avLst/>
          </a:prstGeom>
          <a:solidFill>
            <a:srgbClr val="89D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280160"/>
            <a:ext cx="10515600" cy="365760"/>
          </a:xfrm>
          <a:prstGeom prst="rect">
            <a:avLst/>
          </a:prstGeom>
          <a:noFill/>
        </p:spPr>
        <p:txBody>
          <a:bodyPr wrap="square" lIns="36576" tIns="36576" rIns="36576" bIns="36576" anchor="t">
            <a:spAutoFit/>
          </a:bodyPr>
          <a:lstStyle/>
          <a:p>
            <a:pPr algn="l"/>
            <a:r>
              <a:rPr sz="2200" b="1">
                <a:solidFill>
                  <a:srgbClr val="0A0A0A"/>
                </a:solidFill>
                <a:latin typeface="Arial"/>
              </a:rPr>
              <a:t>ReF-LLE: Personalized Low-Light Enhancement via Reference-Guided Deep Reinforcement Learning</a:t>
            </a:r>
          </a:p>
        </p:txBody>
      </p:sp>
      <p:sp>
        <p:nvSpPr>
          <p:cNvPr id="6" name="TextBox 5"/>
          <p:cNvSpPr txBox="1"/>
          <p:nvPr/>
        </p:nvSpPr>
        <p:spPr>
          <a:xfrm>
            <a:off x="868680" y="2039852"/>
            <a:ext cx="10515600" cy="3867912"/>
          </a:xfrm>
          <a:prstGeom prst="rect">
            <a:avLst/>
          </a:prstGeom>
          <a:noFill/>
        </p:spPr>
        <p:txBody>
          <a:bodyPr wrap="square" lIns="36576" tIns="36576" rIns="36576" bIns="36576" anchor="t">
            <a:spAutoFit/>
          </a:bodyPr>
          <a:lstStyle/>
          <a:p>
            <a:pPr algn="l"/>
            <a:r>
              <a:rPr sz="1800" b="0" dirty="0">
                <a:solidFill>
                  <a:srgbClr val="323232"/>
                </a:solidFill>
                <a:latin typeface="Arial"/>
              </a:rPr>
              <a:t>ReF-LLE proposes a personalized low-light image enhancement framework that combines Fourier frequency-domain processing with deep reinforcement learning. Low-light enhancement is treated as an iterative optimization of the Fourier amplitude component while preserving the phase component. During training, a zero-reference image evaluation strategy provides reward signals to guide the reinforcement learning agent. During inference, a personalized adaptive iterative strategy uses the Zero-Frequency Component (ZFC) as a prior for global illumination and progressively aligns the enhanced image with the illumination distribution of a user-provided reference image.</a:t>
            </a:r>
          </a:p>
        </p:txBody>
      </p:sp>
      <p:sp>
        <p:nvSpPr>
          <p:cNvPr id="7" name="TextBox 6"/>
          <p:cNvSpPr txBox="1"/>
          <p:nvPr/>
        </p:nvSpPr>
        <p:spPr>
          <a:xfrm>
            <a:off x="685800" y="6565392"/>
            <a:ext cx="10835640" cy="164592"/>
          </a:xfrm>
          <a:prstGeom prst="rect">
            <a:avLst/>
          </a:prstGeom>
          <a:noFill/>
        </p:spPr>
        <p:txBody>
          <a:bodyPr wrap="square" lIns="36576" tIns="36576" rIns="36576" bIns="36576" anchor="t">
            <a:spAutoFit/>
          </a:bodyPr>
          <a:lstStyle/>
          <a:p>
            <a:pPr algn="ctr"/>
            <a:r>
              <a:rPr sz="800" b="0">
                <a:solidFill>
                  <a:srgbClr val="5F5F5F"/>
                </a:solidFill>
                <a:latin typeface="Arial"/>
              </a:rPr>
              <a:t>Ming Zhao, Pingping Liu, Tongshun Zhang, Zhe Zhang — ReF-LLE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CEAEF"/>
        </a:solidFill>
        <a:effectLst/>
      </p:bgPr>
    </p:bg>
    <p:spTree>
      <p:nvGrpSpPr>
        <p:cNvPr id="1" name=""/>
        <p:cNvGrpSpPr/>
        <p:nvPr/>
      </p:nvGrpSpPr>
      <p:grpSpPr>
        <a:xfrm>
          <a:off x="0" y="0"/>
          <a:ext cx="0" cy="0"/>
          <a:chOff x="0" y="0"/>
          <a:chExt cx="0" cy="0"/>
        </a:xfrm>
      </p:grpSpPr>
      <p:sp>
        <p:nvSpPr>
          <p:cNvPr id="2" name="Rectangle 1"/>
          <p:cNvSpPr/>
          <p:nvPr/>
        </p:nvSpPr>
        <p:spPr>
          <a:xfrm>
            <a:off x="320040" y="621792"/>
            <a:ext cx="11548872" cy="6016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9410"/>
            <a:ext cx="10835640" cy="594360"/>
          </a:xfrm>
          <a:prstGeom prst="rect">
            <a:avLst/>
          </a:prstGeom>
          <a:noFill/>
        </p:spPr>
        <p:txBody>
          <a:bodyPr wrap="square" lIns="36576" tIns="36576" rIns="36576" bIns="36576" anchor="t">
            <a:spAutoFit/>
          </a:bodyPr>
          <a:lstStyle/>
          <a:p>
            <a:pPr algn="ctr"/>
            <a:r>
              <a:rPr sz="4000" b="0">
                <a:solidFill>
                  <a:srgbClr val="0A0A0A"/>
                </a:solidFill>
                <a:latin typeface="Arial"/>
              </a:rPr>
              <a:t>MOTIVATION BEHIND REF-LLE</a:t>
            </a:r>
          </a:p>
        </p:txBody>
      </p:sp>
      <p:sp>
        <p:nvSpPr>
          <p:cNvPr id="4" name="Rectangle 3"/>
          <p:cNvSpPr/>
          <p:nvPr/>
        </p:nvSpPr>
        <p:spPr>
          <a:xfrm>
            <a:off x="5824728" y="850392"/>
            <a:ext cx="384048" cy="64008"/>
          </a:xfrm>
          <a:prstGeom prst="rect">
            <a:avLst/>
          </a:prstGeom>
          <a:solidFill>
            <a:srgbClr val="89D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298448"/>
            <a:ext cx="10515600" cy="365760"/>
          </a:xfrm>
          <a:prstGeom prst="rect">
            <a:avLst/>
          </a:prstGeom>
          <a:noFill/>
        </p:spPr>
        <p:txBody>
          <a:bodyPr wrap="square" lIns="36576" tIns="36576" rIns="36576" bIns="36576" anchor="t">
            <a:spAutoFit/>
          </a:bodyPr>
          <a:lstStyle/>
          <a:p>
            <a:pPr algn="l"/>
            <a:r>
              <a:rPr sz="2400" b="1">
                <a:solidFill>
                  <a:srgbClr val="0A0A0A"/>
                </a:solidFill>
                <a:latin typeface="Arial"/>
              </a:rPr>
              <a:t>Fourier Frequency Domain + Deep Reinforcement Learning</a:t>
            </a:r>
          </a:p>
        </p:txBody>
      </p:sp>
      <p:sp>
        <p:nvSpPr>
          <p:cNvPr id="6" name="TextBox 5"/>
          <p:cNvSpPr txBox="1"/>
          <p:nvPr/>
        </p:nvSpPr>
        <p:spPr>
          <a:xfrm>
            <a:off x="868680" y="1773936"/>
            <a:ext cx="10515600" cy="3913631"/>
          </a:xfrm>
          <a:prstGeom prst="rect">
            <a:avLst/>
          </a:prstGeom>
          <a:noFill/>
        </p:spPr>
        <p:txBody>
          <a:bodyPr wrap="square" lIns="36576" tIns="36576" rIns="36576" bIns="36576" anchor="t">
            <a:spAutoFit/>
          </a:bodyPr>
          <a:lstStyle/>
          <a:p>
            <a:pPr algn="l"/>
            <a:r>
              <a:rPr sz="1800" b="0">
                <a:solidFill>
                  <a:srgbClr val="323232"/>
                </a:solidFill>
                <a:latin typeface="Arial"/>
              </a:rPr>
              <a:t>The authors observe that luminance information in the Fourier domain is primarily reflected in the amplitude component. They further investigate the Zero-Frequency Component (ZFC) and observe a positive correlation between ZFC and overall image brightness. Based on these observations, ReF-LLE learns amplitude scaling strategies at each iteration instead of relying on a fixed point-to-point transformation. This enables an adaptive and personalized iterative process for low-light enhancement while using a user-provided reference image to guide the desired illumination level.</a:t>
            </a:r>
          </a:p>
        </p:txBody>
      </p:sp>
      <p:sp>
        <p:nvSpPr>
          <p:cNvPr id="7" name="TextBox 6"/>
          <p:cNvSpPr txBox="1"/>
          <p:nvPr/>
        </p:nvSpPr>
        <p:spPr>
          <a:xfrm>
            <a:off x="685800" y="6565392"/>
            <a:ext cx="10835640" cy="164592"/>
          </a:xfrm>
          <a:prstGeom prst="rect">
            <a:avLst/>
          </a:prstGeom>
          <a:noFill/>
        </p:spPr>
        <p:txBody>
          <a:bodyPr wrap="square" lIns="36576" tIns="36576" rIns="36576" bIns="36576" anchor="t">
            <a:spAutoFit/>
          </a:bodyPr>
          <a:lstStyle/>
          <a:p>
            <a:pPr algn="ctr"/>
            <a:r>
              <a:rPr sz="800" b="0">
                <a:solidFill>
                  <a:srgbClr val="5F5F5F"/>
                </a:solidFill>
                <a:latin typeface="Arial"/>
              </a:rPr>
              <a:t>Key terms: Fourier amplitude component, Zero-Frequency Component (ZFC), adaptive personalized iterative strategy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CEAEF"/>
        </a:solidFill>
        <a:effectLst/>
      </p:bgPr>
    </p:bg>
    <p:spTree>
      <p:nvGrpSpPr>
        <p:cNvPr id="1" name=""/>
        <p:cNvGrpSpPr/>
        <p:nvPr/>
      </p:nvGrpSpPr>
      <p:grpSpPr>
        <a:xfrm>
          <a:off x="0" y="0"/>
          <a:ext cx="0" cy="0"/>
          <a:chOff x="0" y="0"/>
          <a:chExt cx="0" cy="0"/>
        </a:xfrm>
      </p:grpSpPr>
      <p:sp>
        <p:nvSpPr>
          <p:cNvPr id="2" name="Rectangle 1"/>
          <p:cNvSpPr/>
          <p:nvPr/>
        </p:nvSpPr>
        <p:spPr>
          <a:xfrm>
            <a:off x="326218" y="627970"/>
            <a:ext cx="11548872" cy="6016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35592"/>
            <a:ext cx="10835640" cy="594360"/>
          </a:xfrm>
          <a:prstGeom prst="rect">
            <a:avLst/>
          </a:prstGeom>
          <a:noFill/>
        </p:spPr>
        <p:txBody>
          <a:bodyPr wrap="square" lIns="36576" tIns="36576" rIns="36576" bIns="36576" anchor="t">
            <a:spAutoFit/>
          </a:bodyPr>
          <a:lstStyle/>
          <a:p>
            <a:pPr algn="ctr"/>
            <a:r>
              <a:rPr sz="4000" b="0">
                <a:solidFill>
                  <a:srgbClr val="0A0A0A"/>
                </a:solidFill>
                <a:latin typeface="Arial"/>
              </a:rPr>
              <a:t>BASE PAPER ARCHITECTURE</a:t>
            </a:r>
          </a:p>
        </p:txBody>
      </p:sp>
      <p:sp>
        <p:nvSpPr>
          <p:cNvPr id="4" name="Rectangle 3"/>
          <p:cNvSpPr/>
          <p:nvPr/>
        </p:nvSpPr>
        <p:spPr>
          <a:xfrm>
            <a:off x="5824728" y="850392"/>
            <a:ext cx="384048" cy="64008"/>
          </a:xfrm>
          <a:prstGeom prst="rect">
            <a:avLst/>
          </a:prstGeom>
          <a:solidFill>
            <a:srgbClr val="89D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261872"/>
            <a:ext cx="10332720" cy="502920"/>
          </a:xfrm>
          <a:prstGeom prst="rect">
            <a:avLst/>
          </a:prstGeom>
          <a:noFill/>
        </p:spPr>
        <p:txBody>
          <a:bodyPr wrap="square" lIns="36576" tIns="36576" rIns="36576" bIns="36576" anchor="t">
            <a:spAutoFit/>
          </a:bodyPr>
          <a:lstStyle/>
          <a:p>
            <a:pPr algn="ctr"/>
            <a:r>
              <a:rPr sz="2100" b="1">
                <a:solidFill>
                  <a:srgbClr val="0A0A0A"/>
                </a:solidFill>
                <a:latin typeface="Arial"/>
              </a:rPr>
              <a:t>ReF-LLE Overall Architecture — Training and Inference</a:t>
            </a:r>
          </a:p>
        </p:txBody>
      </p:sp>
      <p:sp>
        <p:nvSpPr>
          <p:cNvPr id="6" name="Rectangle 5"/>
          <p:cNvSpPr/>
          <p:nvPr/>
        </p:nvSpPr>
        <p:spPr>
          <a:xfrm>
            <a:off x="1051560" y="1965960"/>
            <a:ext cx="10058400" cy="3246120"/>
          </a:xfrm>
          <a:prstGeom prst="rect">
            <a:avLst/>
          </a:prstGeom>
          <a:solidFill>
            <a:srgbClr val="F8FAFB"/>
          </a:solidFill>
          <a:ln>
            <a:solidFill>
              <a:srgbClr val="89D1E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63040" y="2606040"/>
            <a:ext cx="9235440" cy="1097280"/>
          </a:xfrm>
          <a:prstGeom prst="rect">
            <a:avLst/>
          </a:prstGeom>
          <a:noFill/>
        </p:spPr>
        <p:txBody>
          <a:bodyPr wrap="square" lIns="36576" tIns="36576" rIns="36576" bIns="36576" anchor="ctr">
            <a:spAutoFit/>
          </a:bodyPr>
          <a:lstStyle/>
          <a:p>
            <a:pPr algn="ctr"/>
            <a:r>
              <a:rPr sz="2800" b="1">
                <a:solidFill>
                  <a:srgbClr val="5F5F5F"/>
                </a:solidFill>
                <a:latin typeface="Arial"/>
              </a:rPr>
              <a:t>INSERT BASE PAPER ARCHITECTURAL DIAGRAM HERE</a:t>
            </a:r>
          </a:p>
        </p:txBody>
      </p:sp>
      <p:sp>
        <p:nvSpPr>
          <p:cNvPr id="8" name="TextBox 7"/>
          <p:cNvSpPr txBox="1"/>
          <p:nvPr/>
        </p:nvSpPr>
        <p:spPr>
          <a:xfrm>
            <a:off x="1828800" y="3794760"/>
            <a:ext cx="8503920" cy="640080"/>
          </a:xfrm>
          <a:prstGeom prst="rect">
            <a:avLst/>
          </a:prstGeom>
          <a:noFill/>
        </p:spPr>
        <p:txBody>
          <a:bodyPr wrap="square" lIns="36576" tIns="36576" rIns="36576" bIns="36576" anchor="t">
            <a:spAutoFit/>
          </a:bodyPr>
          <a:lstStyle/>
          <a:p>
            <a:pPr algn="ctr"/>
            <a:r>
              <a:rPr sz="1700" b="0">
                <a:solidFill>
                  <a:srgbClr val="323232"/>
                </a:solidFill>
                <a:latin typeface="Arial"/>
              </a:rPr>
              <a:t>Use Figure 3: “Overall architecture of the proposed ReF-LLE.”</a:t>
            </a:r>
          </a:p>
        </p:txBody>
      </p:sp>
      <p:sp>
        <p:nvSpPr>
          <p:cNvPr id="9" name="TextBox 8"/>
          <p:cNvSpPr txBox="1"/>
          <p:nvPr/>
        </p:nvSpPr>
        <p:spPr>
          <a:xfrm>
            <a:off x="685800" y="6565392"/>
            <a:ext cx="10835640" cy="164592"/>
          </a:xfrm>
          <a:prstGeom prst="rect">
            <a:avLst/>
          </a:prstGeom>
          <a:noFill/>
        </p:spPr>
        <p:txBody>
          <a:bodyPr wrap="square" lIns="36576" tIns="36576" rIns="36576" bIns="36576" anchor="t">
            <a:spAutoFit/>
          </a:bodyPr>
          <a:lstStyle/>
          <a:p>
            <a:pPr algn="ctr"/>
            <a:r>
              <a:rPr sz="800" b="0">
                <a:solidFill>
                  <a:srgbClr val="5F5F5F"/>
                </a:solidFill>
                <a:latin typeface="Arial"/>
              </a:rPr>
              <a:t>Base paper Figure 3 — ReF-LLE training/inference architecture</a:t>
            </a:r>
          </a:p>
        </p:txBody>
      </p:sp>
      <p:pic>
        <p:nvPicPr>
          <p:cNvPr id="11" name="Picture 10">
            <a:extLst>
              <a:ext uri="{FF2B5EF4-FFF2-40B4-BE49-F238E27FC236}">
                <a16:creationId xmlns:a16="http://schemas.microsoft.com/office/drawing/2014/main" id="{DB8D082D-0F68-88FC-C988-9A03BA3DEA87}"/>
              </a:ext>
            </a:extLst>
          </p:cNvPr>
          <p:cNvPicPr>
            <a:picLocks noChangeAspect="1"/>
          </p:cNvPicPr>
          <p:nvPr/>
        </p:nvPicPr>
        <p:blipFill>
          <a:blip r:embed="rId2"/>
          <a:stretch>
            <a:fillRect/>
          </a:stretch>
        </p:blipFill>
        <p:spPr>
          <a:xfrm>
            <a:off x="1082040" y="1894548"/>
            <a:ext cx="10058400" cy="34490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CEAEF"/>
        </a:solidFill>
        <a:effectLst/>
      </p:bgPr>
    </p:bg>
    <p:spTree>
      <p:nvGrpSpPr>
        <p:cNvPr id="1" name=""/>
        <p:cNvGrpSpPr/>
        <p:nvPr/>
      </p:nvGrpSpPr>
      <p:grpSpPr>
        <a:xfrm>
          <a:off x="0" y="0"/>
          <a:ext cx="0" cy="0"/>
          <a:chOff x="0" y="0"/>
          <a:chExt cx="0" cy="0"/>
        </a:xfrm>
      </p:grpSpPr>
      <p:sp>
        <p:nvSpPr>
          <p:cNvPr id="2" name="Rectangle 1"/>
          <p:cNvSpPr/>
          <p:nvPr/>
        </p:nvSpPr>
        <p:spPr>
          <a:xfrm>
            <a:off x="320040" y="621792"/>
            <a:ext cx="11548872" cy="6016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35592"/>
            <a:ext cx="10835640" cy="594360"/>
          </a:xfrm>
          <a:prstGeom prst="rect">
            <a:avLst/>
          </a:prstGeom>
          <a:noFill/>
        </p:spPr>
        <p:txBody>
          <a:bodyPr wrap="square" lIns="36576" tIns="36576" rIns="36576" bIns="36576" anchor="t">
            <a:spAutoFit/>
          </a:bodyPr>
          <a:lstStyle/>
          <a:p>
            <a:pPr algn="ctr"/>
            <a:r>
              <a:rPr sz="4000" b="0">
                <a:solidFill>
                  <a:srgbClr val="0A0A0A"/>
                </a:solidFill>
                <a:latin typeface="Arial"/>
              </a:rPr>
              <a:t>POLICY GENERATION AND ACTION SPACE</a:t>
            </a:r>
          </a:p>
        </p:txBody>
      </p:sp>
      <p:sp>
        <p:nvSpPr>
          <p:cNvPr id="4" name="Rectangle 3"/>
          <p:cNvSpPr/>
          <p:nvPr/>
        </p:nvSpPr>
        <p:spPr>
          <a:xfrm>
            <a:off x="5824728" y="850392"/>
            <a:ext cx="384048" cy="64008"/>
          </a:xfrm>
          <a:prstGeom prst="rect">
            <a:avLst/>
          </a:prstGeom>
          <a:solidFill>
            <a:srgbClr val="89D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34440"/>
            <a:ext cx="5349240" cy="365760"/>
          </a:xfrm>
          <a:prstGeom prst="rect">
            <a:avLst/>
          </a:prstGeom>
          <a:noFill/>
        </p:spPr>
        <p:txBody>
          <a:bodyPr wrap="square" lIns="36576" tIns="36576" rIns="36576" bIns="36576" anchor="t">
            <a:spAutoFit/>
          </a:bodyPr>
          <a:lstStyle/>
          <a:p>
            <a:pPr algn="l"/>
            <a:r>
              <a:rPr sz="2200" b="1">
                <a:solidFill>
                  <a:srgbClr val="0A0A0A"/>
                </a:solidFill>
                <a:latin typeface="Arial"/>
              </a:rPr>
              <a:t>A3C Policy Generation</a:t>
            </a:r>
          </a:p>
        </p:txBody>
      </p:sp>
      <p:sp>
        <p:nvSpPr>
          <p:cNvPr id="6" name="TextBox 5"/>
          <p:cNvSpPr txBox="1"/>
          <p:nvPr/>
        </p:nvSpPr>
        <p:spPr>
          <a:xfrm>
            <a:off x="731520" y="1709928"/>
            <a:ext cx="5349240" cy="4005072"/>
          </a:xfrm>
          <a:prstGeom prst="rect">
            <a:avLst/>
          </a:prstGeom>
          <a:noFill/>
        </p:spPr>
        <p:txBody>
          <a:bodyPr wrap="square" lIns="36576" tIns="36576" rIns="36576" bIns="36576" anchor="t">
            <a:spAutoFit/>
          </a:bodyPr>
          <a:lstStyle/>
          <a:p>
            <a:pPr algn="l"/>
            <a:r>
              <a:rPr sz="1700" b="0">
                <a:solidFill>
                  <a:srgbClr val="323232"/>
                </a:solidFill>
                <a:latin typeface="Arial"/>
              </a:rPr>
              <a:t>ReF-LLE uses the A3C deep reinforcement learning framework. The A3C method contains a Policy Network and a Value Network. The Policy Network generates the enhancement strategy, while the Value Network estimates the long-term discounted reward V(s_t) for the current state. Together, they learn an enhancement policy that balances immediate rewards with future potential gains.</a:t>
            </a:r>
          </a:p>
        </p:txBody>
      </p:sp>
      <p:sp>
        <p:nvSpPr>
          <p:cNvPr id="7" name="TextBox 6"/>
          <p:cNvSpPr txBox="1"/>
          <p:nvPr/>
        </p:nvSpPr>
        <p:spPr>
          <a:xfrm>
            <a:off x="6172200" y="1234440"/>
            <a:ext cx="5349240" cy="365760"/>
          </a:xfrm>
          <a:prstGeom prst="rect">
            <a:avLst/>
          </a:prstGeom>
          <a:noFill/>
        </p:spPr>
        <p:txBody>
          <a:bodyPr wrap="square" lIns="36576" tIns="36576" rIns="36576" bIns="36576" anchor="t">
            <a:spAutoFit/>
          </a:bodyPr>
          <a:lstStyle/>
          <a:p>
            <a:pPr algn="l"/>
            <a:r>
              <a:rPr sz="2200" b="1">
                <a:solidFill>
                  <a:srgbClr val="0A0A0A"/>
                </a:solidFill>
                <a:latin typeface="Arial"/>
              </a:rPr>
              <a:t>Action Space Setting</a:t>
            </a:r>
          </a:p>
        </p:txBody>
      </p:sp>
      <p:sp>
        <p:nvSpPr>
          <p:cNvPr id="8" name="TextBox 7"/>
          <p:cNvSpPr txBox="1"/>
          <p:nvPr/>
        </p:nvSpPr>
        <p:spPr>
          <a:xfrm>
            <a:off x="6172200" y="1709928"/>
            <a:ext cx="5349240" cy="4005072"/>
          </a:xfrm>
          <a:prstGeom prst="rect">
            <a:avLst/>
          </a:prstGeom>
          <a:noFill/>
        </p:spPr>
        <p:txBody>
          <a:bodyPr wrap="square" lIns="36576" tIns="36576" rIns="36576" bIns="36576" anchor="t">
            <a:spAutoFit/>
          </a:bodyPr>
          <a:lstStyle/>
          <a:p>
            <a:pPr algn="l"/>
            <a:r>
              <a:rPr sz="1700" b="0">
                <a:solidFill>
                  <a:srgbClr val="323232"/>
                </a:solidFill>
                <a:latin typeface="Arial"/>
              </a:rPr>
              <a:t>The network decides how to modulate the Fourier amplitude based on the current state s_t. The action is defined as A = e^α, with α ranging from −0.1 to 0.2 and a discretization step of 0.01. The action range is selected to balance enhancement flexibility against search-space size, computational complexity, and training difficulty.</a:t>
            </a:r>
          </a:p>
        </p:txBody>
      </p:sp>
      <p:sp>
        <p:nvSpPr>
          <p:cNvPr id="9" name="TextBox 8"/>
          <p:cNvSpPr txBox="1"/>
          <p:nvPr/>
        </p:nvSpPr>
        <p:spPr>
          <a:xfrm>
            <a:off x="685800" y="6565392"/>
            <a:ext cx="10835640" cy="164592"/>
          </a:xfrm>
          <a:prstGeom prst="rect">
            <a:avLst/>
          </a:prstGeom>
          <a:noFill/>
        </p:spPr>
        <p:txBody>
          <a:bodyPr wrap="square" lIns="36576" tIns="36576" rIns="36576" bIns="36576" anchor="t">
            <a:spAutoFit/>
          </a:bodyPr>
          <a:lstStyle/>
          <a:p>
            <a:pPr algn="ctr"/>
            <a:r>
              <a:rPr sz="800" b="0">
                <a:solidFill>
                  <a:srgbClr val="5F5F5F"/>
                </a:solidFill>
                <a:latin typeface="Arial"/>
              </a:rPr>
              <a:t>Keywords from Section III-A and III-B of ReF-LLE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CEAEF"/>
        </a:solidFill>
        <a:effectLst/>
      </p:bgPr>
    </p:bg>
    <p:spTree>
      <p:nvGrpSpPr>
        <p:cNvPr id="1" name=""/>
        <p:cNvGrpSpPr/>
        <p:nvPr/>
      </p:nvGrpSpPr>
      <p:grpSpPr>
        <a:xfrm>
          <a:off x="0" y="0"/>
          <a:ext cx="0" cy="0"/>
          <a:chOff x="0" y="0"/>
          <a:chExt cx="0" cy="0"/>
        </a:xfrm>
      </p:grpSpPr>
      <p:sp>
        <p:nvSpPr>
          <p:cNvPr id="2" name="Rectangle 1"/>
          <p:cNvSpPr/>
          <p:nvPr/>
        </p:nvSpPr>
        <p:spPr>
          <a:xfrm>
            <a:off x="320040" y="621792"/>
            <a:ext cx="11548872" cy="6016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35592"/>
            <a:ext cx="10835640" cy="594360"/>
          </a:xfrm>
          <a:prstGeom prst="rect">
            <a:avLst/>
          </a:prstGeom>
          <a:noFill/>
        </p:spPr>
        <p:txBody>
          <a:bodyPr wrap="square" lIns="36576" tIns="36576" rIns="36576" bIns="36576" anchor="t">
            <a:spAutoFit/>
          </a:bodyPr>
          <a:lstStyle/>
          <a:p>
            <a:pPr algn="ctr"/>
            <a:r>
              <a:rPr sz="4000" b="0">
                <a:solidFill>
                  <a:srgbClr val="0A0A0A"/>
                </a:solidFill>
                <a:latin typeface="Arial"/>
              </a:rPr>
              <a:t>QUALITY ASSESSMENT AND REWARD</a:t>
            </a:r>
          </a:p>
        </p:txBody>
      </p:sp>
      <p:sp>
        <p:nvSpPr>
          <p:cNvPr id="4" name="Rectangle 3"/>
          <p:cNvSpPr/>
          <p:nvPr/>
        </p:nvSpPr>
        <p:spPr>
          <a:xfrm>
            <a:off x="5824728" y="850392"/>
            <a:ext cx="384048" cy="64008"/>
          </a:xfrm>
          <a:prstGeom prst="rect">
            <a:avLst/>
          </a:prstGeom>
          <a:solidFill>
            <a:srgbClr val="89D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207008"/>
            <a:ext cx="5440680" cy="365760"/>
          </a:xfrm>
          <a:prstGeom prst="rect">
            <a:avLst/>
          </a:prstGeom>
          <a:noFill/>
        </p:spPr>
        <p:txBody>
          <a:bodyPr wrap="square" lIns="36576" tIns="36576" rIns="36576" bIns="36576" anchor="t">
            <a:spAutoFit/>
          </a:bodyPr>
          <a:lstStyle/>
          <a:p>
            <a:pPr algn="l"/>
            <a:r>
              <a:rPr sz="2300" b="1">
                <a:solidFill>
                  <a:srgbClr val="0A0A0A"/>
                </a:solidFill>
                <a:latin typeface="Arial"/>
              </a:rPr>
              <a:t>Image Quality Reward</a:t>
            </a:r>
          </a:p>
        </p:txBody>
      </p:sp>
      <p:sp>
        <p:nvSpPr>
          <p:cNvPr id="6" name="TextBox 5"/>
          <p:cNvSpPr txBox="1"/>
          <p:nvPr/>
        </p:nvSpPr>
        <p:spPr>
          <a:xfrm>
            <a:off x="777240" y="1682496"/>
            <a:ext cx="5440680" cy="4096512"/>
          </a:xfrm>
          <a:prstGeom prst="rect">
            <a:avLst/>
          </a:prstGeom>
          <a:noFill/>
        </p:spPr>
        <p:txBody>
          <a:bodyPr wrap="square" lIns="36576" tIns="36576" rIns="36576" bIns="36576" anchor="t">
            <a:spAutoFit/>
          </a:bodyPr>
          <a:lstStyle/>
          <a:p>
            <a:pPr algn="l"/>
            <a:r>
              <a:rPr sz="1700" b="0">
                <a:solidFill>
                  <a:srgbClr val="323232"/>
                </a:solidFill>
                <a:latin typeface="Arial"/>
              </a:rPr>
              <a:t>UNIQUE is used as a no-reference image quality assessment model. The quality reward measures the improvement between the current state and the original state:</a:t>
            </a:r>
          </a:p>
        </p:txBody>
      </p:sp>
      <p:sp>
        <p:nvSpPr>
          <p:cNvPr id="7" name="TextBox 6"/>
          <p:cNvSpPr txBox="1"/>
          <p:nvPr/>
        </p:nvSpPr>
        <p:spPr>
          <a:xfrm>
            <a:off x="1051560" y="4206240"/>
            <a:ext cx="4846320" cy="640080"/>
          </a:xfrm>
          <a:prstGeom prst="rect">
            <a:avLst/>
          </a:prstGeom>
          <a:noFill/>
        </p:spPr>
        <p:txBody>
          <a:bodyPr wrap="square" lIns="36576" tIns="36576" rIns="36576" bIns="36576" anchor="t">
            <a:spAutoFit/>
          </a:bodyPr>
          <a:lstStyle/>
          <a:p>
            <a:pPr algn="ctr"/>
            <a:r>
              <a:rPr sz="2400" b="1">
                <a:solidFill>
                  <a:srgbClr val="0A0A0A"/>
                </a:solidFill>
                <a:latin typeface="Arial"/>
              </a:rPr>
              <a:t>rᵢqₜ = S(sₜ) − S(s₀)</a:t>
            </a:r>
          </a:p>
        </p:txBody>
      </p:sp>
      <p:sp>
        <p:nvSpPr>
          <p:cNvPr id="8" name="TextBox 7"/>
          <p:cNvSpPr txBox="1"/>
          <p:nvPr/>
        </p:nvSpPr>
        <p:spPr>
          <a:xfrm>
            <a:off x="6309360" y="1207008"/>
            <a:ext cx="5074920" cy="365760"/>
          </a:xfrm>
          <a:prstGeom prst="rect">
            <a:avLst/>
          </a:prstGeom>
          <a:noFill/>
        </p:spPr>
        <p:txBody>
          <a:bodyPr wrap="square" lIns="36576" tIns="36576" rIns="36576" bIns="36576" anchor="t">
            <a:spAutoFit/>
          </a:bodyPr>
          <a:lstStyle/>
          <a:p>
            <a:pPr algn="l"/>
            <a:r>
              <a:rPr sz="2300" b="1">
                <a:solidFill>
                  <a:srgbClr val="0A0A0A"/>
                </a:solidFill>
                <a:latin typeface="Arial"/>
              </a:rPr>
              <a:t>Amplitude Exposure Reward</a:t>
            </a:r>
          </a:p>
        </p:txBody>
      </p:sp>
      <p:sp>
        <p:nvSpPr>
          <p:cNvPr id="9" name="TextBox 8"/>
          <p:cNvSpPr txBox="1"/>
          <p:nvPr/>
        </p:nvSpPr>
        <p:spPr>
          <a:xfrm>
            <a:off x="6309360" y="1682496"/>
            <a:ext cx="5074920" cy="4096512"/>
          </a:xfrm>
          <a:prstGeom prst="rect">
            <a:avLst/>
          </a:prstGeom>
          <a:noFill/>
        </p:spPr>
        <p:txBody>
          <a:bodyPr wrap="square" lIns="36576" tIns="36576" rIns="36576" bIns="36576" anchor="t">
            <a:spAutoFit/>
          </a:bodyPr>
          <a:lstStyle/>
          <a:p>
            <a:pPr algn="l"/>
            <a:r>
              <a:rPr sz="1700" b="0">
                <a:solidFill>
                  <a:srgbClr val="323232"/>
                </a:solidFill>
                <a:latin typeface="Arial"/>
              </a:rPr>
              <a:t>The Amplitude Exposure Reward uses the Zero-Frequency Component (ZFC) to control the desired global exposure level. The two rewards are combined as the immediate reward:</a:t>
            </a:r>
          </a:p>
        </p:txBody>
      </p:sp>
      <p:sp>
        <p:nvSpPr>
          <p:cNvPr id="10" name="TextBox 9"/>
          <p:cNvSpPr txBox="1"/>
          <p:nvPr/>
        </p:nvSpPr>
        <p:spPr>
          <a:xfrm>
            <a:off x="6629400" y="4206240"/>
            <a:ext cx="4480560" cy="777240"/>
          </a:xfrm>
          <a:prstGeom prst="rect">
            <a:avLst/>
          </a:prstGeom>
          <a:noFill/>
        </p:spPr>
        <p:txBody>
          <a:bodyPr wrap="square" lIns="36576" tIns="36576" rIns="36576" bIns="36576" anchor="t">
            <a:spAutoFit/>
          </a:bodyPr>
          <a:lstStyle/>
          <a:p>
            <a:pPr algn="ctr"/>
            <a:r>
              <a:rPr sz="2300" b="1">
                <a:solidFill>
                  <a:srgbClr val="0A0A0A"/>
                </a:solidFill>
                <a:latin typeface="Arial"/>
              </a:rPr>
              <a:t>rₜ = wᵢq rᵢqₜ − wₐₘₚ rₐₘₚₜ</a:t>
            </a:r>
          </a:p>
        </p:txBody>
      </p:sp>
      <p:sp>
        <p:nvSpPr>
          <p:cNvPr id="11" name="TextBox 10"/>
          <p:cNvSpPr txBox="1"/>
          <p:nvPr/>
        </p:nvSpPr>
        <p:spPr>
          <a:xfrm>
            <a:off x="685800" y="6565392"/>
            <a:ext cx="10835640" cy="164592"/>
          </a:xfrm>
          <a:prstGeom prst="rect">
            <a:avLst/>
          </a:prstGeom>
          <a:noFill/>
        </p:spPr>
        <p:txBody>
          <a:bodyPr wrap="square" lIns="36576" tIns="36576" rIns="36576" bIns="36576" anchor="t">
            <a:spAutoFit/>
          </a:bodyPr>
          <a:lstStyle/>
          <a:p>
            <a:pPr algn="ctr"/>
            <a:r>
              <a:rPr sz="800" b="0">
                <a:solidFill>
                  <a:srgbClr val="5F5F5F"/>
                </a:solidFill>
                <a:latin typeface="Arial"/>
              </a:rPr>
              <a:t>Quality Assessment: UNIQUE + Amplitude Exposure Reward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CEAEF"/>
        </a:solidFill>
        <a:effectLst/>
      </p:bgPr>
    </p:bg>
    <p:spTree>
      <p:nvGrpSpPr>
        <p:cNvPr id="1" name=""/>
        <p:cNvGrpSpPr/>
        <p:nvPr/>
      </p:nvGrpSpPr>
      <p:grpSpPr>
        <a:xfrm>
          <a:off x="0" y="0"/>
          <a:ext cx="0" cy="0"/>
          <a:chOff x="0" y="0"/>
          <a:chExt cx="0" cy="0"/>
        </a:xfrm>
      </p:grpSpPr>
      <p:sp>
        <p:nvSpPr>
          <p:cNvPr id="2" name="Rectangle 1"/>
          <p:cNvSpPr/>
          <p:nvPr/>
        </p:nvSpPr>
        <p:spPr>
          <a:xfrm>
            <a:off x="320040" y="621792"/>
            <a:ext cx="11548872" cy="6016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10876"/>
            <a:ext cx="10835640" cy="594360"/>
          </a:xfrm>
          <a:prstGeom prst="rect">
            <a:avLst/>
          </a:prstGeom>
          <a:noFill/>
        </p:spPr>
        <p:txBody>
          <a:bodyPr wrap="square" lIns="36576" tIns="36576" rIns="36576" bIns="36576" anchor="t">
            <a:spAutoFit/>
          </a:bodyPr>
          <a:lstStyle/>
          <a:p>
            <a:pPr algn="ctr"/>
            <a:r>
              <a:rPr sz="4000" b="0">
                <a:solidFill>
                  <a:srgbClr val="0A0A0A"/>
                </a:solidFill>
                <a:latin typeface="Arial"/>
              </a:rPr>
              <a:t>ZERO-FREQUENCY COMPONENT GUIDE</a:t>
            </a:r>
          </a:p>
        </p:txBody>
      </p:sp>
      <p:sp>
        <p:nvSpPr>
          <p:cNvPr id="4" name="Rectangle 3"/>
          <p:cNvSpPr/>
          <p:nvPr/>
        </p:nvSpPr>
        <p:spPr>
          <a:xfrm>
            <a:off x="5824728" y="850392"/>
            <a:ext cx="384048" cy="64008"/>
          </a:xfrm>
          <a:prstGeom prst="rect">
            <a:avLst/>
          </a:prstGeom>
          <a:solidFill>
            <a:srgbClr val="89D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280160"/>
            <a:ext cx="10469880" cy="365760"/>
          </a:xfrm>
          <a:prstGeom prst="rect">
            <a:avLst/>
          </a:prstGeom>
          <a:noFill/>
        </p:spPr>
        <p:txBody>
          <a:bodyPr wrap="square" lIns="36576" tIns="36576" rIns="36576" bIns="36576" anchor="t">
            <a:spAutoFit/>
          </a:bodyPr>
          <a:lstStyle/>
          <a:p>
            <a:pPr algn="l"/>
            <a:r>
              <a:rPr sz="2400" b="1">
                <a:solidFill>
                  <a:srgbClr val="0A0A0A"/>
                </a:solidFill>
                <a:latin typeface="Arial"/>
              </a:rPr>
              <a:t>Personalized Adaptive Iterative Strategy</a:t>
            </a:r>
          </a:p>
        </p:txBody>
      </p:sp>
      <p:sp>
        <p:nvSpPr>
          <p:cNvPr id="6" name="TextBox 5"/>
          <p:cNvSpPr txBox="1"/>
          <p:nvPr/>
        </p:nvSpPr>
        <p:spPr>
          <a:xfrm>
            <a:off x="868680" y="1755648"/>
            <a:ext cx="10469880" cy="3867912"/>
          </a:xfrm>
          <a:prstGeom prst="rect">
            <a:avLst/>
          </a:prstGeom>
          <a:noFill/>
        </p:spPr>
        <p:txBody>
          <a:bodyPr wrap="square" lIns="36576" tIns="36576" rIns="36576" bIns="36576" anchor="t">
            <a:spAutoFit/>
          </a:bodyPr>
          <a:lstStyle/>
          <a:p>
            <a:pPr algn="l"/>
            <a:r>
              <a:rPr sz="1800" b="0">
                <a:solidFill>
                  <a:srgbClr val="323232"/>
                </a:solidFill>
                <a:latin typeface="Arial"/>
              </a:rPr>
              <a:t>The Zero-Frequency Component (ZFC) represents the sum or average light intensity of the pixels and directly reflects the overall brightness level. ReF-LLE adopts the ZFC as a prior for global illumination and adaptively iterates so that the Zero-Frequency Component of the enhanced state progressively aligns with the ZFC of the reference image. This provides a simple mechanism for controlling the personalized illumination level during inference.</a:t>
            </a:r>
          </a:p>
        </p:txBody>
      </p:sp>
      <p:sp>
        <p:nvSpPr>
          <p:cNvPr id="7" name="TextBox 6"/>
          <p:cNvSpPr txBox="1"/>
          <p:nvPr/>
        </p:nvSpPr>
        <p:spPr>
          <a:xfrm>
            <a:off x="2057400" y="5166360"/>
            <a:ext cx="8046720" cy="502920"/>
          </a:xfrm>
          <a:prstGeom prst="rect">
            <a:avLst/>
          </a:prstGeom>
          <a:noFill/>
        </p:spPr>
        <p:txBody>
          <a:bodyPr wrap="square" lIns="36576" tIns="36576" rIns="36576" bIns="36576" anchor="t">
            <a:spAutoFit/>
          </a:bodyPr>
          <a:lstStyle/>
          <a:p>
            <a:pPr algn="ctr"/>
            <a:r>
              <a:rPr sz="2600" b="1">
                <a:solidFill>
                  <a:srgbClr val="0A0A0A"/>
                </a:solidFill>
                <a:latin typeface="Arial"/>
              </a:rPr>
              <a:t>zfcₜ  →  zfcᵣₑ𝚏</a:t>
            </a:r>
          </a:p>
        </p:txBody>
      </p:sp>
      <p:sp>
        <p:nvSpPr>
          <p:cNvPr id="8" name="TextBox 7"/>
          <p:cNvSpPr txBox="1"/>
          <p:nvPr/>
        </p:nvSpPr>
        <p:spPr>
          <a:xfrm>
            <a:off x="685800" y="6565392"/>
            <a:ext cx="10835640" cy="164592"/>
          </a:xfrm>
          <a:prstGeom prst="rect">
            <a:avLst/>
          </a:prstGeom>
          <a:noFill/>
        </p:spPr>
        <p:txBody>
          <a:bodyPr wrap="square" lIns="36576" tIns="36576" rIns="36576" bIns="36576" anchor="t">
            <a:spAutoFit/>
          </a:bodyPr>
          <a:lstStyle/>
          <a:p>
            <a:pPr algn="ctr"/>
            <a:r>
              <a:rPr sz="800" b="0">
                <a:solidFill>
                  <a:srgbClr val="5F5F5F"/>
                </a:solidFill>
                <a:latin typeface="Arial"/>
              </a:rPr>
              <a:t>Key term: Zero-Frequency Component (ZFC) Guide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CEAEF"/>
        </a:solidFill>
        <a:effectLst/>
      </p:bgPr>
    </p:bg>
    <p:spTree>
      <p:nvGrpSpPr>
        <p:cNvPr id="1" name=""/>
        <p:cNvGrpSpPr/>
        <p:nvPr/>
      </p:nvGrpSpPr>
      <p:grpSpPr>
        <a:xfrm>
          <a:off x="0" y="0"/>
          <a:ext cx="0" cy="0"/>
          <a:chOff x="0" y="0"/>
          <a:chExt cx="0" cy="0"/>
        </a:xfrm>
      </p:grpSpPr>
      <p:sp>
        <p:nvSpPr>
          <p:cNvPr id="2" name="Rectangle 1"/>
          <p:cNvSpPr/>
          <p:nvPr/>
        </p:nvSpPr>
        <p:spPr>
          <a:xfrm>
            <a:off x="320040" y="621792"/>
            <a:ext cx="11548872" cy="6016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9413"/>
            <a:ext cx="10835640" cy="594360"/>
          </a:xfrm>
          <a:prstGeom prst="rect">
            <a:avLst/>
          </a:prstGeom>
          <a:noFill/>
        </p:spPr>
        <p:txBody>
          <a:bodyPr wrap="square" lIns="36576" tIns="36576" rIns="36576" bIns="36576" anchor="t">
            <a:spAutoFit/>
          </a:bodyPr>
          <a:lstStyle/>
          <a:p>
            <a:pPr algn="ctr"/>
            <a:r>
              <a:rPr sz="4000" b="0">
                <a:solidFill>
                  <a:srgbClr val="0A0A0A"/>
                </a:solidFill>
                <a:latin typeface="Arial"/>
              </a:rPr>
              <a:t>RESEARCH GAP</a:t>
            </a:r>
          </a:p>
        </p:txBody>
      </p:sp>
      <p:sp>
        <p:nvSpPr>
          <p:cNvPr id="4" name="Rectangle 3"/>
          <p:cNvSpPr/>
          <p:nvPr/>
        </p:nvSpPr>
        <p:spPr>
          <a:xfrm>
            <a:off x="5824728" y="850392"/>
            <a:ext cx="384048" cy="64008"/>
          </a:xfrm>
          <a:prstGeom prst="rect">
            <a:avLst/>
          </a:prstGeom>
          <a:solidFill>
            <a:srgbClr val="89D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234440"/>
            <a:ext cx="10469880" cy="365760"/>
          </a:xfrm>
          <a:prstGeom prst="rect">
            <a:avLst/>
          </a:prstGeom>
          <a:noFill/>
        </p:spPr>
        <p:txBody>
          <a:bodyPr wrap="square" lIns="36576" tIns="36576" rIns="36576" bIns="36576" anchor="t">
            <a:spAutoFit/>
          </a:bodyPr>
          <a:lstStyle/>
          <a:p>
            <a:pPr algn="l"/>
            <a:r>
              <a:rPr sz="2400" b="1">
                <a:solidFill>
                  <a:srgbClr val="0A0A0A"/>
                </a:solidFill>
                <a:latin typeface="Arial"/>
              </a:rPr>
              <a:t>From Low-Light Image Enhancement to Low-Luminescence Videos</a:t>
            </a:r>
          </a:p>
        </p:txBody>
      </p:sp>
      <p:sp>
        <p:nvSpPr>
          <p:cNvPr id="6" name="TextBox 5"/>
          <p:cNvSpPr txBox="1"/>
          <p:nvPr/>
        </p:nvSpPr>
        <p:spPr>
          <a:xfrm>
            <a:off x="868680" y="1709928"/>
            <a:ext cx="10469880" cy="4005072"/>
          </a:xfrm>
          <a:prstGeom prst="rect">
            <a:avLst/>
          </a:prstGeom>
          <a:noFill/>
        </p:spPr>
        <p:txBody>
          <a:bodyPr wrap="square" lIns="36576" tIns="36576" rIns="36576" bIns="36576" anchor="t">
            <a:spAutoFit/>
          </a:bodyPr>
          <a:lstStyle/>
          <a:p>
            <a:pPr algn="l"/>
            <a:r>
              <a:rPr sz="1800" b="0">
                <a:solidFill>
                  <a:srgbClr val="323232"/>
                </a:solidFill>
                <a:latin typeface="Arial"/>
              </a:rPr>
              <a:t>ReF-LLE provides an image-level deep reinforcement learning framework for personalized LLIE. Its state, enhancement action, and quality assessment are formulated around the current image and its iterative enhancement. When low-light video is processed frame by frame, consecutive frames may receive slightly different enhancement decisions. Even when individual frames have good perceptual quality, the sequence can therefore exhibit unwanted brightness variation, color fluctuation, or temporal flickering. Our research gap is to extend the ReF-LLE framework with temporal information so that enhancement quality and frame-to-frame consistency are considered together.</a:t>
            </a:r>
          </a:p>
        </p:txBody>
      </p:sp>
      <p:sp>
        <p:nvSpPr>
          <p:cNvPr id="7" name="TextBox 6"/>
          <p:cNvSpPr txBox="1"/>
          <p:nvPr/>
        </p:nvSpPr>
        <p:spPr>
          <a:xfrm>
            <a:off x="685800" y="6565392"/>
            <a:ext cx="10835640" cy="164592"/>
          </a:xfrm>
          <a:prstGeom prst="rect">
            <a:avLst/>
          </a:prstGeom>
          <a:noFill/>
        </p:spPr>
        <p:txBody>
          <a:bodyPr wrap="square" lIns="36576" tIns="36576" rIns="36576" bIns="36576" anchor="t">
            <a:spAutoFit/>
          </a:bodyPr>
          <a:lstStyle/>
          <a:p>
            <a:pPr algn="ctr"/>
            <a:r>
              <a:rPr sz="800" b="0">
                <a:solidFill>
                  <a:srgbClr val="5F5F5F"/>
                </a:solidFill>
                <a:latin typeface="Arial"/>
              </a:rPr>
              <a:t>Proposed research gap — extension of the published image-level framework to video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CEAEF"/>
        </a:solidFill>
        <a:effectLst/>
      </p:bgPr>
    </p:bg>
    <p:spTree>
      <p:nvGrpSpPr>
        <p:cNvPr id="1" name=""/>
        <p:cNvGrpSpPr/>
        <p:nvPr/>
      </p:nvGrpSpPr>
      <p:grpSpPr>
        <a:xfrm>
          <a:off x="0" y="0"/>
          <a:ext cx="0" cy="0"/>
          <a:chOff x="0" y="0"/>
          <a:chExt cx="0" cy="0"/>
        </a:xfrm>
      </p:grpSpPr>
      <p:sp>
        <p:nvSpPr>
          <p:cNvPr id="2" name="Rectangle 1"/>
          <p:cNvSpPr/>
          <p:nvPr/>
        </p:nvSpPr>
        <p:spPr>
          <a:xfrm>
            <a:off x="320040" y="621792"/>
            <a:ext cx="11548872" cy="6016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9414"/>
            <a:ext cx="10835640" cy="594360"/>
          </a:xfrm>
          <a:prstGeom prst="rect">
            <a:avLst/>
          </a:prstGeom>
          <a:noFill/>
        </p:spPr>
        <p:txBody>
          <a:bodyPr wrap="square" lIns="36576" tIns="36576" rIns="36576" bIns="36576" anchor="t">
            <a:spAutoFit/>
          </a:bodyPr>
          <a:lstStyle/>
          <a:p>
            <a:pPr algn="ctr"/>
            <a:r>
              <a:rPr sz="4000" b="0">
                <a:solidFill>
                  <a:srgbClr val="0A0A0A"/>
                </a:solidFill>
                <a:latin typeface="Arial"/>
              </a:rPr>
              <a:t>OUR IMPROVEMENT</a:t>
            </a:r>
          </a:p>
        </p:txBody>
      </p:sp>
      <p:sp>
        <p:nvSpPr>
          <p:cNvPr id="4" name="Rectangle 3"/>
          <p:cNvSpPr/>
          <p:nvPr/>
        </p:nvSpPr>
        <p:spPr>
          <a:xfrm>
            <a:off x="5824728" y="850392"/>
            <a:ext cx="384048" cy="64008"/>
          </a:xfrm>
          <a:prstGeom prst="rect">
            <a:avLst/>
          </a:prstGeom>
          <a:solidFill>
            <a:srgbClr val="89D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207008"/>
            <a:ext cx="10469880" cy="365760"/>
          </a:xfrm>
          <a:prstGeom prst="rect">
            <a:avLst/>
          </a:prstGeom>
          <a:noFill/>
        </p:spPr>
        <p:txBody>
          <a:bodyPr wrap="square" lIns="36576" tIns="36576" rIns="36576" bIns="36576" anchor="t">
            <a:spAutoFit/>
          </a:bodyPr>
          <a:lstStyle/>
          <a:p>
            <a:pPr algn="l"/>
            <a:r>
              <a:rPr sz="2400" b="1">
                <a:solidFill>
                  <a:srgbClr val="0A0A0A"/>
                </a:solidFill>
                <a:latin typeface="Arial"/>
              </a:rPr>
              <a:t>Temporal Consistency-Aware ReF-LLE</a:t>
            </a:r>
          </a:p>
        </p:txBody>
      </p:sp>
      <p:sp>
        <p:nvSpPr>
          <p:cNvPr id="6" name="TextBox 5"/>
          <p:cNvSpPr txBox="1"/>
          <p:nvPr/>
        </p:nvSpPr>
        <p:spPr>
          <a:xfrm>
            <a:off x="868680" y="1682496"/>
            <a:ext cx="10469880" cy="4050791"/>
          </a:xfrm>
          <a:prstGeom prst="rect">
            <a:avLst/>
          </a:prstGeom>
          <a:noFill/>
        </p:spPr>
        <p:txBody>
          <a:bodyPr wrap="square" lIns="36576" tIns="36576" rIns="36576" bIns="36576" anchor="t">
            <a:spAutoFit/>
          </a:bodyPr>
          <a:lstStyle/>
          <a:p>
            <a:pPr algn="l"/>
            <a:r>
              <a:rPr sz="1800" b="0">
                <a:solidFill>
                  <a:srgbClr val="323232"/>
                </a:solidFill>
                <a:latin typeface="Arial"/>
              </a:rPr>
              <a:t>Our proposed improvement retains the central terminology and formulation of ReF-LLE—Fourier frequency-domain enhancement, amplitude optimization, A3C Policy Network, Value Network, UNIQUE, Image Quality Reward, Amplitude Exposure Reward, and Zero-Frequency Component guidance—but extends the state from an individual image to a sequence-aware representation. Instead of considering only the current frame, the reinforcement learning agent also receives information from the previous frame and can optionally use motion information. The objective becomes to improve the current frame while maintaining consistency with the temporal context.</a:t>
            </a:r>
          </a:p>
        </p:txBody>
      </p:sp>
      <p:sp>
        <p:nvSpPr>
          <p:cNvPr id="7" name="TextBox 6"/>
          <p:cNvSpPr txBox="1"/>
          <p:nvPr/>
        </p:nvSpPr>
        <p:spPr>
          <a:xfrm>
            <a:off x="2011680" y="5138928"/>
            <a:ext cx="8138160" cy="502920"/>
          </a:xfrm>
          <a:prstGeom prst="rect">
            <a:avLst/>
          </a:prstGeom>
          <a:noFill/>
        </p:spPr>
        <p:txBody>
          <a:bodyPr wrap="square" lIns="36576" tIns="36576" rIns="36576" bIns="36576" anchor="t">
            <a:spAutoFit/>
          </a:bodyPr>
          <a:lstStyle/>
          <a:p>
            <a:pPr algn="ctr"/>
            <a:r>
              <a:rPr sz="2200" b="1">
                <a:solidFill>
                  <a:srgbClr val="0A0A0A"/>
                </a:solidFill>
                <a:latin typeface="Arial"/>
              </a:rPr>
              <a:t>sₜ = (Iₜ, Iₜ₋₁)   or   sₜ = (Iₜ, Iₜ₋₁, Fₜ)</a:t>
            </a:r>
          </a:p>
        </p:txBody>
      </p:sp>
      <p:sp>
        <p:nvSpPr>
          <p:cNvPr id="8" name="TextBox 7"/>
          <p:cNvSpPr txBox="1"/>
          <p:nvPr/>
        </p:nvSpPr>
        <p:spPr>
          <a:xfrm>
            <a:off x="685800" y="6565392"/>
            <a:ext cx="10835640" cy="164592"/>
          </a:xfrm>
          <a:prstGeom prst="rect">
            <a:avLst/>
          </a:prstGeom>
          <a:noFill/>
        </p:spPr>
        <p:txBody>
          <a:bodyPr wrap="square" lIns="36576" tIns="36576" rIns="36576" bIns="36576" anchor="t">
            <a:spAutoFit/>
          </a:bodyPr>
          <a:lstStyle/>
          <a:p>
            <a:pPr algn="ctr"/>
            <a:r>
              <a:rPr sz="800" b="0">
                <a:solidFill>
                  <a:srgbClr val="5F5F5F"/>
                </a:solidFill>
                <a:latin typeface="Arial"/>
              </a:rPr>
              <a:t>Proposed extension — temporal state added to the ReF-LLE formulation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CEAEF"/>
        </a:solidFill>
        <a:effectLst/>
      </p:bgPr>
    </p:bg>
    <p:spTree>
      <p:nvGrpSpPr>
        <p:cNvPr id="1" name=""/>
        <p:cNvGrpSpPr/>
        <p:nvPr/>
      </p:nvGrpSpPr>
      <p:grpSpPr>
        <a:xfrm>
          <a:off x="0" y="0"/>
          <a:ext cx="0" cy="0"/>
          <a:chOff x="0" y="0"/>
          <a:chExt cx="0" cy="0"/>
        </a:xfrm>
      </p:grpSpPr>
      <p:sp>
        <p:nvSpPr>
          <p:cNvPr id="2" name="Rectangle 1"/>
          <p:cNvSpPr/>
          <p:nvPr/>
        </p:nvSpPr>
        <p:spPr>
          <a:xfrm>
            <a:off x="320040" y="621792"/>
            <a:ext cx="11548872" cy="6016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3236"/>
            <a:ext cx="10835640" cy="594360"/>
          </a:xfrm>
          <a:prstGeom prst="rect">
            <a:avLst/>
          </a:prstGeom>
          <a:noFill/>
        </p:spPr>
        <p:txBody>
          <a:bodyPr wrap="square" lIns="36576" tIns="36576" rIns="36576" bIns="36576" anchor="t">
            <a:spAutoFit/>
          </a:bodyPr>
          <a:lstStyle/>
          <a:p>
            <a:pPr algn="ctr"/>
            <a:r>
              <a:rPr sz="4000" b="0">
                <a:solidFill>
                  <a:srgbClr val="0A0A0A"/>
                </a:solidFill>
                <a:latin typeface="Arial"/>
              </a:rPr>
              <a:t>OUR ADDED APPROACH</a:t>
            </a:r>
          </a:p>
        </p:txBody>
      </p:sp>
      <p:sp>
        <p:nvSpPr>
          <p:cNvPr id="4" name="Rectangle 3"/>
          <p:cNvSpPr/>
          <p:nvPr/>
        </p:nvSpPr>
        <p:spPr>
          <a:xfrm>
            <a:off x="5824728" y="850392"/>
            <a:ext cx="384048" cy="64008"/>
          </a:xfrm>
          <a:prstGeom prst="rect">
            <a:avLst/>
          </a:prstGeom>
          <a:solidFill>
            <a:srgbClr val="89D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261872"/>
            <a:ext cx="10332720" cy="502920"/>
          </a:xfrm>
          <a:prstGeom prst="rect">
            <a:avLst/>
          </a:prstGeom>
          <a:noFill/>
        </p:spPr>
        <p:txBody>
          <a:bodyPr wrap="square" lIns="36576" tIns="36576" rIns="36576" bIns="36576" anchor="t">
            <a:spAutoFit/>
          </a:bodyPr>
          <a:lstStyle/>
          <a:p>
            <a:pPr algn="ctr"/>
            <a:r>
              <a:rPr sz="2100" b="1">
                <a:solidFill>
                  <a:srgbClr val="0A0A0A"/>
                </a:solidFill>
                <a:latin typeface="Arial"/>
              </a:rPr>
              <a:t>Proposed Temporal Consistency-Aware ReF-LLE Architecture</a:t>
            </a:r>
          </a:p>
        </p:txBody>
      </p:sp>
      <p:sp>
        <p:nvSpPr>
          <p:cNvPr id="6" name="Rectangle 5"/>
          <p:cNvSpPr/>
          <p:nvPr/>
        </p:nvSpPr>
        <p:spPr>
          <a:xfrm>
            <a:off x="1051560" y="1874519"/>
            <a:ext cx="10058400" cy="3429000"/>
          </a:xfrm>
          <a:prstGeom prst="rect">
            <a:avLst/>
          </a:prstGeom>
          <a:solidFill>
            <a:srgbClr val="F8FAFB"/>
          </a:solidFill>
          <a:ln>
            <a:solidFill>
              <a:srgbClr val="89D1E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17320" y="2423160"/>
            <a:ext cx="9326880" cy="1051560"/>
          </a:xfrm>
          <a:prstGeom prst="rect">
            <a:avLst/>
          </a:prstGeom>
          <a:noFill/>
        </p:spPr>
        <p:txBody>
          <a:bodyPr wrap="square" lIns="36576" tIns="36576" rIns="36576" bIns="36576" anchor="ctr">
            <a:spAutoFit/>
          </a:bodyPr>
          <a:lstStyle/>
          <a:p>
            <a:pPr algn="ctr"/>
            <a:r>
              <a:rPr sz="2800" b="1">
                <a:solidFill>
                  <a:srgbClr val="5F5F5F"/>
                </a:solidFill>
                <a:latin typeface="Arial"/>
              </a:rPr>
              <a:t>INSERT OUR ADDED ARCHITECTURAL</a:t>
            </a:r>
            <a:br/>
            <a:r>
              <a:t>APPROACH HERE</a:t>
            </a:r>
          </a:p>
        </p:txBody>
      </p:sp>
      <p:sp>
        <p:nvSpPr>
          <p:cNvPr id="8" name="TextBox 7"/>
          <p:cNvSpPr txBox="1"/>
          <p:nvPr/>
        </p:nvSpPr>
        <p:spPr>
          <a:xfrm>
            <a:off x="1691640" y="3886200"/>
            <a:ext cx="8823960" cy="777240"/>
          </a:xfrm>
          <a:prstGeom prst="rect">
            <a:avLst/>
          </a:prstGeom>
          <a:noFill/>
        </p:spPr>
        <p:txBody>
          <a:bodyPr wrap="square" lIns="36576" tIns="36576" rIns="36576" bIns="36576" anchor="t">
            <a:spAutoFit/>
          </a:bodyPr>
          <a:lstStyle/>
          <a:p>
            <a:pPr algn="ctr"/>
            <a:r>
              <a:rPr sz="1700" b="0">
                <a:solidFill>
                  <a:srgbClr val="323232"/>
                </a:solidFill>
                <a:latin typeface="Arial"/>
              </a:rPr>
              <a:t>Suggested additions: previous-frame state + motion information + temporal consistency reward</a:t>
            </a:r>
          </a:p>
        </p:txBody>
      </p:sp>
      <p:sp>
        <p:nvSpPr>
          <p:cNvPr id="9" name="TextBox 8"/>
          <p:cNvSpPr txBox="1"/>
          <p:nvPr/>
        </p:nvSpPr>
        <p:spPr>
          <a:xfrm>
            <a:off x="685800" y="6565392"/>
            <a:ext cx="10835640" cy="164592"/>
          </a:xfrm>
          <a:prstGeom prst="rect">
            <a:avLst/>
          </a:prstGeom>
          <a:noFill/>
        </p:spPr>
        <p:txBody>
          <a:bodyPr wrap="square" lIns="36576" tIns="36576" rIns="36576" bIns="36576" anchor="t">
            <a:spAutoFit/>
          </a:bodyPr>
          <a:lstStyle/>
          <a:p>
            <a:pPr algn="ctr"/>
            <a:r>
              <a:rPr sz="800" b="0">
                <a:solidFill>
                  <a:srgbClr val="5F5F5F"/>
                </a:solidFill>
                <a:latin typeface="Arial"/>
              </a:rPr>
              <a:t>Leave this space for the final proposed architecture diagram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CEAEF"/>
        </a:solidFill>
        <a:effectLst/>
      </p:bgPr>
    </p:bg>
    <p:spTree>
      <p:nvGrpSpPr>
        <p:cNvPr id="1" name=""/>
        <p:cNvGrpSpPr/>
        <p:nvPr/>
      </p:nvGrpSpPr>
      <p:grpSpPr>
        <a:xfrm>
          <a:off x="0" y="0"/>
          <a:ext cx="0" cy="0"/>
          <a:chOff x="0" y="0"/>
          <a:chExt cx="0" cy="0"/>
        </a:xfrm>
      </p:grpSpPr>
      <p:sp>
        <p:nvSpPr>
          <p:cNvPr id="2" name="Rectangle 1"/>
          <p:cNvSpPr/>
          <p:nvPr/>
        </p:nvSpPr>
        <p:spPr>
          <a:xfrm>
            <a:off x="320040" y="621792"/>
            <a:ext cx="11548872" cy="6016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17058"/>
            <a:ext cx="10835640" cy="594360"/>
          </a:xfrm>
          <a:prstGeom prst="rect">
            <a:avLst/>
          </a:prstGeom>
          <a:noFill/>
        </p:spPr>
        <p:txBody>
          <a:bodyPr wrap="square" lIns="36576" tIns="36576" rIns="36576" bIns="36576" anchor="t">
            <a:spAutoFit/>
          </a:bodyPr>
          <a:lstStyle/>
          <a:p>
            <a:pPr algn="ctr"/>
            <a:r>
              <a:rPr sz="4000" b="0">
                <a:solidFill>
                  <a:srgbClr val="0A0A0A"/>
                </a:solidFill>
                <a:latin typeface="Arial"/>
              </a:rPr>
              <a:t>PROPOSED TEMPORAL CONSISTENCY REWARD</a:t>
            </a:r>
          </a:p>
        </p:txBody>
      </p:sp>
      <p:sp>
        <p:nvSpPr>
          <p:cNvPr id="5" name="TextBox 4"/>
          <p:cNvSpPr txBox="1"/>
          <p:nvPr/>
        </p:nvSpPr>
        <p:spPr>
          <a:xfrm>
            <a:off x="822960" y="1207008"/>
            <a:ext cx="10561320" cy="365760"/>
          </a:xfrm>
          <a:prstGeom prst="rect">
            <a:avLst/>
          </a:prstGeom>
          <a:noFill/>
        </p:spPr>
        <p:txBody>
          <a:bodyPr wrap="square" lIns="36576" tIns="36576" rIns="36576" bIns="36576" anchor="t">
            <a:spAutoFit/>
          </a:bodyPr>
          <a:lstStyle/>
          <a:p>
            <a:pPr algn="l"/>
            <a:r>
              <a:rPr sz="2400" b="1">
                <a:solidFill>
                  <a:srgbClr val="0A0A0A"/>
                </a:solidFill>
                <a:latin typeface="Arial"/>
              </a:rPr>
              <a:t>Extending the Quality Assessment</a:t>
            </a:r>
          </a:p>
        </p:txBody>
      </p:sp>
      <p:sp>
        <p:nvSpPr>
          <p:cNvPr id="6" name="TextBox 5"/>
          <p:cNvSpPr txBox="1"/>
          <p:nvPr/>
        </p:nvSpPr>
        <p:spPr>
          <a:xfrm>
            <a:off x="822960" y="1682496"/>
            <a:ext cx="10561320" cy="4050791"/>
          </a:xfrm>
          <a:prstGeom prst="rect">
            <a:avLst/>
          </a:prstGeom>
          <a:noFill/>
        </p:spPr>
        <p:txBody>
          <a:bodyPr wrap="square" lIns="36576" tIns="36576" rIns="36576" bIns="36576" anchor="t">
            <a:spAutoFit/>
          </a:bodyPr>
          <a:lstStyle/>
          <a:p>
            <a:pPr algn="l"/>
            <a:r>
              <a:rPr sz="1800" b="0">
                <a:solidFill>
                  <a:srgbClr val="323232"/>
                </a:solidFill>
                <a:latin typeface="Arial"/>
              </a:rPr>
              <a:t>The original ReF-LLE reward combines the Image Quality Reward and Amplitude Exposure Reward. Our proposed extension introduces a third component, the Temporal Consistency Reward, to discourage unnecessary variation between consecutive enhanced frames. The agent therefore learns to balance spatial enhancement quality, desired exposure, and temporal stability.</a:t>
            </a:r>
          </a:p>
        </p:txBody>
      </p:sp>
      <p:sp>
        <p:nvSpPr>
          <p:cNvPr id="7" name="TextBox 6"/>
          <p:cNvSpPr txBox="1"/>
          <p:nvPr/>
        </p:nvSpPr>
        <p:spPr>
          <a:xfrm>
            <a:off x="1280160" y="4160520"/>
            <a:ext cx="9601200" cy="914400"/>
          </a:xfrm>
          <a:prstGeom prst="rect">
            <a:avLst/>
          </a:prstGeom>
          <a:noFill/>
        </p:spPr>
        <p:txBody>
          <a:bodyPr wrap="square" lIns="36576" tIns="36576" rIns="36576" bIns="36576" anchor="t">
            <a:spAutoFit/>
          </a:bodyPr>
          <a:lstStyle/>
          <a:p>
            <a:pPr algn="ctr"/>
            <a:r>
              <a:rPr sz="2700" b="1" dirty="0">
                <a:solidFill>
                  <a:srgbClr val="0A0A0A"/>
                </a:solidFill>
                <a:latin typeface="Arial"/>
              </a:rPr>
              <a:t>rₜ = </a:t>
            </a:r>
            <a:r>
              <a:rPr sz="2700" b="1" dirty="0" err="1">
                <a:solidFill>
                  <a:srgbClr val="0A0A0A"/>
                </a:solidFill>
                <a:latin typeface="Arial"/>
              </a:rPr>
              <a:t>wᵢq</a:t>
            </a:r>
            <a:r>
              <a:rPr sz="2700" b="1" dirty="0">
                <a:solidFill>
                  <a:srgbClr val="0A0A0A"/>
                </a:solidFill>
                <a:latin typeface="Arial"/>
              </a:rPr>
              <a:t> </a:t>
            </a:r>
            <a:r>
              <a:rPr sz="2700" b="1" dirty="0" err="1">
                <a:solidFill>
                  <a:srgbClr val="0A0A0A"/>
                </a:solidFill>
                <a:latin typeface="Arial"/>
              </a:rPr>
              <a:t>rᵢq</a:t>
            </a:r>
            <a:r>
              <a:rPr sz="2700" b="1" dirty="0">
                <a:solidFill>
                  <a:srgbClr val="0A0A0A"/>
                </a:solidFill>
                <a:latin typeface="Arial"/>
              </a:rPr>
              <a:t>ₜ − wₐₘₚ rₐₘₚₜ − </a:t>
            </a:r>
            <a:r>
              <a:rPr sz="2700" b="1" dirty="0" err="1">
                <a:solidFill>
                  <a:srgbClr val="0A0A0A"/>
                </a:solidFill>
                <a:latin typeface="Arial"/>
              </a:rPr>
              <a:t>wₜc</a:t>
            </a:r>
            <a:r>
              <a:rPr sz="2700" b="1" dirty="0">
                <a:solidFill>
                  <a:srgbClr val="0A0A0A"/>
                </a:solidFill>
                <a:latin typeface="Arial"/>
              </a:rPr>
              <a:t> </a:t>
            </a:r>
            <a:r>
              <a:rPr sz="2700" b="1" dirty="0" err="1">
                <a:solidFill>
                  <a:srgbClr val="0A0A0A"/>
                </a:solidFill>
                <a:latin typeface="Arial"/>
              </a:rPr>
              <a:t>rₜc</a:t>
            </a:r>
            <a:r>
              <a:rPr sz="2700" b="1" dirty="0">
                <a:solidFill>
                  <a:srgbClr val="0A0A0A"/>
                </a:solidFill>
                <a:latin typeface="Arial"/>
              </a:rPr>
              <a:t>ₜ</a:t>
            </a:r>
          </a:p>
        </p:txBody>
      </p:sp>
      <p:sp>
        <p:nvSpPr>
          <p:cNvPr id="8" name="TextBox 7"/>
          <p:cNvSpPr txBox="1"/>
          <p:nvPr/>
        </p:nvSpPr>
        <p:spPr>
          <a:xfrm>
            <a:off x="1417320" y="5074920"/>
            <a:ext cx="9326880" cy="502920"/>
          </a:xfrm>
          <a:prstGeom prst="rect">
            <a:avLst/>
          </a:prstGeom>
          <a:noFill/>
        </p:spPr>
        <p:txBody>
          <a:bodyPr wrap="square" lIns="36576" tIns="36576" rIns="36576" bIns="36576" anchor="t">
            <a:spAutoFit/>
          </a:bodyPr>
          <a:lstStyle/>
          <a:p>
            <a:pPr algn="ctr"/>
            <a:r>
              <a:rPr sz="1500" b="0">
                <a:solidFill>
                  <a:srgbClr val="5F5F5F"/>
                </a:solidFill>
                <a:latin typeface="Arial"/>
              </a:rPr>
              <a:t>rₜcₜ : measures undesirable frame-to-frame variation; motion compensation can be added using optical flow.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CEAEF"/>
        </a:solidFill>
        <a:effectLst/>
      </p:bgPr>
    </p:bg>
    <p:spTree>
      <p:nvGrpSpPr>
        <p:cNvPr id="1" name=""/>
        <p:cNvGrpSpPr/>
        <p:nvPr/>
      </p:nvGrpSpPr>
      <p:grpSpPr>
        <a:xfrm>
          <a:off x="0" y="0"/>
          <a:ext cx="0" cy="0"/>
          <a:chOff x="0" y="0"/>
          <a:chExt cx="0" cy="0"/>
        </a:xfrm>
      </p:grpSpPr>
      <p:sp>
        <p:nvSpPr>
          <p:cNvPr id="2" name="Rectangle 1"/>
          <p:cNvSpPr/>
          <p:nvPr/>
        </p:nvSpPr>
        <p:spPr>
          <a:xfrm>
            <a:off x="320040" y="621792"/>
            <a:ext cx="11548872" cy="6016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3232"/>
            <a:ext cx="10835640" cy="594360"/>
          </a:xfrm>
          <a:prstGeom prst="rect">
            <a:avLst/>
          </a:prstGeom>
          <a:noFill/>
        </p:spPr>
        <p:txBody>
          <a:bodyPr wrap="square" lIns="36576" tIns="36576" rIns="36576" bIns="36576" anchor="t">
            <a:spAutoFit/>
          </a:bodyPr>
          <a:lstStyle/>
          <a:p>
            <a:pPr algn="ctr"/>
            <a:r>
              <a:rPr sz="4000" b="0">
                <a:solidFill>
                  <a:srgbClr val="0A0A0A"/>
                </a:solidFill>
                <a:latin typeface="Arial"/>
              </a:rPr>
              <a:t>FUTURE APPROACH</a:t>
            </a:r>
          </a:p>
        </p:txBody>
      </p:sp>
      <p:sp>
        <p:nvSpPr>
          <p:cNvPr id="4" name="Rectangle 3"/>
          <p:cNvSpPr/>
          <p:nvPr/>
        </p:nvSpPr>
        <p:spPr>
          <a:xfrm>
            <a:off x="5824728" y="850392"/>
            <a:ext cx="384048" cy="64008"/>
          </a:xfrm>
          <a:prstGeom prst="rect">
            <a:avLst/>
          </a:prstGeom>
          <a:solidFill>
            <a:srgbClr val="89D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143000"/>
            <a:ext cx="5440680" cy="365760"/>
          </a:xfrm>
          <a:prstGeom prst="rect">
            <a:avLst/>
          </a:prstGeom>
          <a:noFill/>
        </p:spPr>
        <p:txBody>
          <a:bodyPr wrap="square" lIns="36576" tIns="36576" rIns="36576" bIns="36576" anchor="t">
            <a:spAutoFit/>
          </a:bodyPr>
          <a:lstStyle/>
          <a:p>
            <a:pPr algn="l"/>
            <a:r>
              <a:rPr sz="2200" b="1">
                <a:solidFill>
                  <a:srgbClr val="0A0A0A"/>
                </a:solidFill>
                <a:latin typeface="Arial"/>
              </a:rPr>
              <a:t>Implementation Roadmap</a:t>
            </a:r>
          </a:p>
        </p:txBody>
      </p:sp>
      <p:sp>
        <p:nvSpPr>
          <p:cNvPr id="6" name="TextBox 5"/>
          <p:cNvSpPr txBox="1"/>
          <p:nvPr/>
        </p:nvSpPr>
        <p:spPr>
          <a:xfrm>
            <a:off x="685800" y="1618488"/>
            <a:ext cx="5440680" cy="4507992"/>
          </a:xfrm>
          <a:prstGeom prst="rect">
            <a:avLst/>
          </a:prstGeom>
          <a:noFill/>
        </p:spPr>
        <p:txBody>
          <a:bodyPr wrap="square" lIns="36576" tIns="36576" rIns="36576" bIns="36576" anchor="t">
            <a:spAutoFit/>
          </a:bodyPr>
          <a:lstStyle/>
          <a:p>
            <a:pPr algn="l"/>
            <a:r>
              <a:rPr sz="1700" b="0">
                <a:solidFill>
                  <a:srgbClr val="323232"/>
                </a:solidFill>
                <a:latin typeface="Arial"/>
              </a:rPr>
              <a:t>First, reproduce the ReF-LLE baseline, including Fourier transform, amplitude/phase decomposition, A3C Policy and Value Networks, UNIQUE, Amplitude Exposure Reward, and ZFC-guided inference. Next, convert the input pipeline from independent images to sequential video frames. Then introduce the temporal state, add the Temporal Consistency Reward, and investigate motion-aware comparison using optical flow. Finally, compare the original image-based strategy, frame-wise enhancement, and the proposed temporal approach.</a:t>
            </a:r>
          </a:p>
        </p:txBody>
      </p:sp>
      <p:sp>
        <p:nvSpPr>
          <p:cNvPr id="7" name="TextBox 6"/>
          <p:cNvSpPr txBox="1"/>
          <p:nvPr/>
        </p:nvSpPr>
        <p:spPr>
          <a:xfrm>
            <a:off x="6172200" y="1143000"/>
            <a:ext cx="5257800" cy="365760"/>
          </a:xfrm>
          <a:prstGeom prst="rect">
            <a:avLst/>
          </a:prstGeom>
          <a:noFill/>
        </p:spPr>
        <p:txBody>
          <a:bodyPr wrap="square" lIns="36576" tIns="36576" rIns="36576" bIns="36576" anchor="t">
            <a:spAutoFit/>
          </a:bodyPr>
          <a:lstStyle/>
          <a:p>
            <a:pPr algn="l"/>
            <a:r>
              <a:rPr sz="2200" b="1">
                <a:solidFill>
                  <a:srgbClr val="0A0A0A"/>
                </a:solidFill>
                <a:latin typeface="Arial"/>
              </a:rPr>
              <a:t>Evaluation</a:t>
            </a:r>
          </a:p>
        </p:txBody>
      </p:sp>
      <p:sp>
        <p:nvSpPr>
          <p:cNvPr id="8" name="TextBox 7"/>
          <p:cNvSpPr txBox="1"/>
          <p:nvPr/>
        </p:nvSpPr>
        <p:spPr>
          <a:xfrm>
            <a:off x="6172200" y="1618488"/>
            <a:ext cx="5257800" cy="4507992"/>
          </a:xfrm>
          <a:prstGeom prst="rect">
            <a:avLst/>
          </a:prstGeom>
          <a:noFill/>
        </p:spPr>
        <p:txBody>
          <a:bodyPr wrap="square" lIns="36576" tIns="36576" rIns="36576" bIns="36576" anchor="t">
            <a:spAutoFit/>
          </a:bodyPr>
          <a:lstStyle/>
          <a:p>
            <a:pPr algn="l"/>
            <a:r>
              <a:rPr sz="1700" b="0">
                <a:solidFill>
                  <a:srgbClr val="323232"/>
                </a:solidFill>
                <a:latin typeface="Arial"/>
              </a:rPr>
              <a:t>The evaluation will preserve the metrics reported in ReF-LLE—PSNR, PSNRy, SSIM, LPIPS, and NIQE—while adding video-oriented measures of temporal consistency and flicker reduction. The key comparison is whether temporal information can reduce unwanted frame-to-frame variation without sacrificing low-light enhancement quality. Qualitative evaluation will focus on brightness stability, color consistency, detail preservation, and overall perceptual quality across video sequences.</a:t>
            </a:r>
          </a:p>
        </p:txBody>
      </p:sp>
      <p:sp>
        <p:nvSpPr>
          <p:cNvPr id="9" name="TextBox 8"/>
          <p:cNvSpPr txBox="1"/>
          <p:nvPr/>
        </p:nvSpPr>
        <p:spPr>
          <a:xfrm>
            <a:off x="685800" y="6565392"/>
            <a:ext cx="10835640" cy="164592"/>
          </a:xfrm>
          <a:prstGeom prst="rect">
            <a:avLst/>
          </a:prstGeom>
          <a:noFill/>
        </p:spPr>
        <p:txBody>
          <a:bodyPr wrap="square" lIns="36576" tIns="36576" rIns="36576" bIns="36576" anchor="t">
            <a:spAutoFit/>
          </a:bodyPr>
          <a:lstStyle/>
          <a:p>
            <a:pPr algn="ctr"/>
            <a:r>
              <a:rPr sz="800" b="0">
                <a:solidFill>
                  <a:srgbClr val="5F5F5F"/>
                </a:solidFill>
                <a:latin typeface="Arial"/>
              </a:rPr>
              <a:t>Base-paper metrics: PSNR, PSNRy, SSIM, LPIPS, NIQE; proposed addition: temporal consistency / flicker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CEAEF"/>
        </a:solidFill>
        <a:effectLst/>
      </p:bgPr>
    </p:bg>
    <p:spTree>
      <p:nvGrpSpPr>
        <p:cNvPr id="1" name=""/>
        <p:cNvGrpSpPr/>
        <p:nvPr/>
      </p:nvGrpSpPr>
      <p:grpSpPr>
        <a:xfrm>
          <a:off x="0" y="0"/>
          <a:ext cx="0" cy="0"/>
          <a:chOff x="0" y="0"/>
          <a:chExt cx="0" cy="0"/>
        </a:xfrm>
      </p:grpSpPr>
      <p:sp>
        <p:nvSpPr>
          <p:cNvPr id="2" name="Rectangle 1"/>
          <p:cNvSpPr/>
          <p:nvPr/>
        </p:nvSpPr>
        <p:spPr>
          <a:xfrm>
            <a:off x="320040" y="621792"/>
            <a:ext cx="11548872" cy="6016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35592"/>
            <a:ext cx="10835640" cy="594360"/>
          </a:xfrm>
          <a:prstGeom prst="rect">
            <a:avLst/>
          </a:prstGeom>
          <a:noFill/>
        </p:spPr>
        <p:txBody>
          <a:bodyPr wrap="square" lIns="36576" tIns="36576" rIns="36576" bIns="36576" anchor="t">
            <a:spAutoFit/>
          </a:bodyPr>
          <a:lstStyle/>
          <a:p>
            <a:pPr algn="ctr"/>
            <a:r>
              <a:rPr sz="4000" b="0">
                <a:solidFill>
                  <a:srgbClr val="0A0A0A"/>
                </a:solidFill>
                <a:latin typeface="Arial"/>
              </a:rPr>
              <a:t>SUMMARY</a:t>
            </a:r>
          </a:p>
        </p:txBody>
      </p:sp>
      <p:sp>
        <p:nvSpPr>
          <p:cNvPr id="4" name="Rectangle 3"/>
          <p:cNvSpPr/>
          <p:nvPr/>
        </p:nvSpPr>
        <p:spPr>
          <a:xfrm>
            <a:off x="5824728" y="850392"/>
            <a:ext cx="384048" cy="64008"/>
          </a:xfrm>
          <a:prstGeom prst="rect">
            <a:avLst/>
          </a:prstGeom>
          <a:solidFill>
            <a:srgbClr val="89D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234440"/>
            <a:ext cx="5212080" cy="365760"/>
          </a:xfrm>
          <a:prstGeom prst="rect">
            <a:avLst/>
          </a:prstGeom>
          <a:noFill/>
        </p:spPr>
        <p:txBody>
          <a:bodyPr wrap="square" lIns="36576" tIns="36576" rIns="36576" bIns="36576" anchor="t">
            <a:spAutoFit/>
          </a:bodyPr>
          <a:lstStyle/>
          <a:p>
            <a:pPr algn="l"/>
            <a:r>
              <a:rPr sz="2200" b="1">
                <a:solidFill>
                  <a:srgbClr val="0A0A0A"/>
                </a:solidFill>
                <a:latin typeface="Arial"/>
              </a:rPr>
              <a:t>ReF-LLE Foundation</a:t>
            </a:r>
          </a:p>
        </p:txBody>
      </p:sp>
      <p:sp>
        <p:nvSpPr>
          <p:cNvPr id="6" name="TextBox 5"/>
          <p:cNvSpPr txBox="1"/>
          <p:nvPr/>
        </p:nvSpPr>
        <p:spPr>
          <a:xfrm>
            <a:off x="777240" y="1709928"/>
            <a:ext cx="5212080" cy="4050791"/>
          </a:xfrm>
          <a:prstGeom prst="rect">
            <a:avLst/>
          </a:prstGeom>
          <a:noFill/>
        </p:spPr>
        <p:txBody>
          <a:bodyPr wrap="square" lIns="36576" tIns="36576" rIns="36576" bIns="36576" anchor="t">
            <a:spAutoFit/>
          </a:bodyPr>
          <a:lstStyle/>
          <a:p>
            <a:pPr algn="l"/>
            <a:r>
              <a:rPr sz="1700" b="0">
                <a:solidFill>
                  <a:srgbClr val="323232"/>
                </a:solidFill>
                <a:latin typeface="Arial"/>
              </a:rPr>
              <a:t>ReF-LLE combines Fourier frequency-domain processing with deep reinforcement learning for personalized LLIE. The framework optimizes the Fourier amplitude component, uses A3C Policy and Value Networks, obtains feedback through zero-reference image quality assessment, and uses the Zero-Frequency Component to guide personalized global illumination.</a:t>
            </a:r>
          </a:p>
        </p:txBody>
      </p:sp>
      <p:sp>
        <p:nvSpPr>
          <p:cNvPr id="7" name="TextBox 6"/>
          <p:cNvSpPr txBox="1"/>
          <p:nvPr/>
        </p:nvSpPr>
        <p:spPr>
          <a:xfrm>
            <a:off x="6217920" y="1234440"/>
            <a:ext cx="5166360" cy="365760"/>
          </a:xfrm>
          <a:prstGeom prst="rect">
            <a:avLst/>
          </a:prstGeom>
          <a:noFill/>
        </p:spPr>
        <p:txBody>
          <a:bodyPr wrap="square" lIns="36576" tIns="36576" rIns="36576" bIns="36576" anchor="t">
            <a:spAutoFit/>
          </a:bodyPr>
          <a:lstStyle/>
          <a:p>
            <a:pPr algn="l"/>
            <a:r>
              <a:rPr sz="2200" b="1">
                <a:solidFill>
                  <a:srgbClr val="0A0A0A"/>
                </a:solidFill>
                <a:latin typeface="Arial"/>
              </a:rPr>
              <a:t>Our Proposed Direction</a:t>
            </a:r>
          </a:p>
        </p:txBody>
      </p:sp>
      <p:sp>
        <p:nvSpPr>
          <p:cNvPr id="8" name="TextBox 7"/>
          <p:cNvSpPr txBox="1"/>
          <p:nvPr/>
        </p:nvSpPr>
        <p:spPr>
          <a:xfrm>
            <a:off x="6217920" y="1709928"/>
            <a:ext cx="5166360" cy="4050791"/>
          </a:xfrm>
          <a:prstGeom prst="rect">
            <a:avLst/>
          </a:prstGeom>
          <a:noFill/>
        </p:spPr>
        <p:txBody>
          <a:bodyPr wrap="square" lIns="36576" tIns="36576" rIns="36576" bIns="36576" anchor="t">
            <a:spAutoFit/>
          </a:bodyPr>
          <a:lstStyle/>
          <a:p>
            <a:pPr algn="l"/>
            <a:r>
              <a:rPr sz="1700" b="0">
                <a:solidFill>
                  <a:srgbClr val="323232"/>
                </a:solidFill>
                <a:latin typeface="Arial"/>
              </a:rPr>
              <a:t>Our project extends this foundation from low-light image enhancement to low-luminescence video enhancement. The key addition is temporal awareness: previous-frame information and a temporal consistency objective are introduced into the reinforcement learning formulation so that enhanced frames remain visually stable over time.</a:t>
            </a:r>
          </a:p>
        </p:txBody>
      </p:sp>
      <p:sp>
        <p:nvSpPr>
          <p:cNvPr id="9" name="TextBox 8"/>
          <p:cNvSpPr txBox="1"/>
          <p:nvPr/>
        </p:nvSpPr>
        <p:spPr>
          <a:xfrm>
            <a:off x="685800" y="6565392"/>
            <a:ext cx="10835640" cy="164592"/>
          </a:xfrm>
          <a:prstGeom prst="rect">
            <a:avLst/>
          </a:prstGeom>
          <a:noFill/>
        </p:spPr>
        <p:txBody>
          <a:bodyPr wrap="square" lIns="36576" tIns="36576" rIns="36576" bIns="36576" anchor="t">
            <a:spAutoFit/>
          </a:bodyPr>
          <a:lstStyle/>
          <a:p>
            <a:pPr algn="ctr"/>
            <a:r>
              <a:rPr sz="800" b="0">
                <a:solidFill>
                  <a:srgbClr val="5F5F5F"/>
                </a:solidFill>
                <a:latin typeface="Arial"/>
              </a:rPr>
              <a:t>Project objective: personalized enhancement + temporal consistency for low-luminescence videos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CEAEF"/>
        </a:solidFill>
        <a:effectLst/>
      </p:bgPr>
    </p:bg>
    <p:spTree>
      <p:nvGrpSpPr>
        <p:cNvPr id="1" name=""/>
        <p:cNvGrpSpPr/>
        <p:nvPr/>
      </p:nvGrpSpPr>
      <p:grpSpPr>
        <a:xfrm>
          <a:off x="0" y="0"/>
          <a:ext cx="0" cy="0"/>
          <a:chOff x="0" y="0"/>
          <a:chExt cx="0" cy="0"/>
        </a:xfrm>
      </p:grpSpPr>
      <p:sp>
        <p:nvSpPr>
          <p:cNvPr id="2" name="Rectangle 1"/>
          <p:cNvSpPr/>
          <p:nvPr/>
        </p:nvSpPr>
        <p:spPr>
          <a:xfrm>
            <a:off x="320040" y="457200"/>
            <a:ext cx="11548872" cy="5989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514600"/>
            <a:ext cx="10515600" cy="1188720"/>
          </a:xfrm>
          <a:prstGeom prst="rect">
            <a:avLst/>
          </a:prstGeom>
          <a:noFill/>
        </p:spPr>
        <p:txBody>
          <a:bodyPr wrap="square" lIns="36576" tIns="36576" rIns="36576" bIns="36576" anchor="ctr">
            <a:spAutoFit/>
          </a:bodyPr>
          <a:lstStyle/>
          <a:p>
            <a:pPr algn="ctr"/>
            <a:r>
              <a:rPr sz="4800" b="0">
                <a:solidFill>
                  <a:srgbClr val="0A0A0A"/>
                </a:solidFill>
                <a:latin typeface="Arial"/>
              </a:rPr>
              <a:t>THANK YOU</a:t>
            </a:r>
          </a:p>
        </p:txBody>
      </p:sp>
      <p:sp>
        <p:nvSpPr>
          <p:cNvPr id="4" name="Rectangle 3"/>
          <p:cNvSpPr/>
          <p:nvPr/>
        </p:nvSpPr>
        <p:spPr>
          <a:xfrm>
            <a:off x="5797296" y="3840480"/>
            <a:ext cx="457200" cy="73152"/>
          </a:xfrm>
          <a:prstGeom prst="rect">
            <a:avLst/>
          </a:prstGeom>
          <a:solidFill>
            <a:srgbClr val="89D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a:themeElements>
    <a:clrScheme name="Scientific Discovery">
      <a:dk1>
        <a:srgbClr val="000000"/>
      </a:dk1>
      <a:lt1>
        <a:srgbClr val="FFFFFF"/>
      </a:lt1>
      <a:dk2>
        <a:srgbClr val="44546A"/>
      </a:dk2>
      <a:lt2>
        <a:srgbClr val="E7E6E6"/>
      </a:lt2>
      <a:accent1>
        <a:srgbClr val="96D3ED"/>
      </a:accent1>
      <a:accent2>
        <a:srgbClr val="C7DBE1"/>
      </a:accent2>
      <a:accent3>
        <a:srgbClr val="688EBD"/>
      </a:accent3>
      <a:accent4>
        <a:srgbClr val="BCE5DD"/>
      </a:accent4>
      <a:accent5>
        <a:srgbClr val="66DDCC"/>
      </a:accent5>
      <a:accent6>
        <a:srgbClr val="E0CE61"/>
      </a:accent6>
      <a:hlink>
        <a:srgbClr val="0563C1"/>
      </a:hlink>
      <a:folHlink>
        <a:srgbClr val="954F72"/>
      </a:folHlink>
    </a:clrScheme>
    <a:fontScheme name="Custom 36">
      <a:majorFont>
        <a:latin typeface="Posterama"/>
        <a:ea typeface=""/>
        <a:cs typeface=""/>
      </a:majorFont>
      <a:minorFont>
        <a:latin typeface="Daytona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cientific discovery_V1_win32_EF_v4.potx" id="{C76E1CB0-558D-4FB9-AA8B-DAB0BFDB970A}" vid="{87D4F3E9-C3BB-413B-A87E-0B7BB674A5C4}"/>
    </a:ext>
  </a:extLst>
</a:theme>
</file>

<file path=docProps/app.xml><?xml version="1.0" encoding="utf-8"?>
<Properties xmlns="http://schemas.openxmlformats.org/officeDocument/2006/extended-properties" xmlns:vt="http://schemas.openxmlformats.org/officeDocument/2006/docPropsVTypes">
  <TotalTime>9</TotalTime>
  <Words>1439</Words>
  <Application>Microsoft Office PowerPoint</Application>
  <PresentationFormat>Widescreen</PresentationFormat>
  <Paragraphs>75</Paragraphs>
  <Slides>16</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Arial</vt:lpstr>
      <vt:lpstr>Calibri</vt:lpstr>
      <vt:lpstr>Courier New</vt:lpstr>
      <vt:lpstr>Daytona Condensed Light</vt:lpstr>
      <vt:lpstr>Posterama</vt:lpstr>
      <vt:lpstr>Office Theme</vt:lpstr>
      <vt:lpstr>Custom</vt:lpstr>
      <vt:lpstr>PowerPoint Presentation</vt:lpstr>
      <vt:lpstr>Team members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hop zombee</dc:creator>
  <cp:keywords/>
  <dc:description>generated using python-pptx</dc:description>
  <cp:lastModifiedBy>hop zombee</cp:lastModifiedBy>
  <cp:revision>2</cp:revision>
  <dcterms:created xsi:type="dcterms:W3CDTF">2013-01-27T09:14:16Z</dcterms:created>
  <dcterms:modified xsi:type="dcterms:W3CDTF">2026-09-08T18:22:50Z</dcterms:modified>
  <cp:category/>
</cp:coreProperties>
</file>